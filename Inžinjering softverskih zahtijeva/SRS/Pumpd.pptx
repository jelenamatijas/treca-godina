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7" r:id="rId2"/>
    <p:sldId id="258" r:id="rId3"/>
    <p:sldId id="264" r:id="rId4"/>
    <p:sldId id="266" r:id="rId5"/>
    <p:sldId id="259" r:id="rId6"/>
    <p:sldId id="260" r:id="rId7"/>
    <p:sldId id="270" r:id="rId8"/>
    <p:sldId id="271" r:id="rId9"/>
    <p:sldId id="281" r:id="rId10"/>
    <p:sldId id="272" r:id="rId11"/>
    <p:sldId id="261" r:id="rId12"/>
    <p:sldId id="274" r:id="rId13"/>
    <p:sldId id="276" r:id="rId14"/>
    <p:sldId id="262" r:id="rId15"/>
    <p:sldId id="299" r:id="rId16"/>
    <p:sldId id="300" r:id="rId17"/>
    <p:sldId id="301" r:id="rId18"/>
    <p:sldId id="302" r:id="rId19"/>
    <p:sldId id="303" r:id="rId20"/>
    <p:sldId id="279" r:id="rId21"/>
    <p:sldId id="298" r:id="rId22"/>
    <p:sldId id="263" r:id="rId23"/>
    <p:sldId id="282" r:id="rId24"/>
    <p:sldId id="297" r:id="rId25"/>
    <p:sldId id="283" r:id="rId26"/>
    <p:sldId id="285" r:id="rId27"/>
    <p:sldId id="286" r:id="rId28"/>
    <p:sldId id="284" r:id="rId29"/>
    <p:sldId id="287" r:id="rId30"/>
    <p:sldId id="288" r:id="rId31"/>
    <p:sldId id="289" r:id="rId32"/>
    <p:sldId id="295" r:id="rId33"/>
    <p:sldId id="296" r:id="rId34"/>
    <p:sldId id="304" r:id="rId35"/>
    <p:sldId id="290" r:id="rId36"/>
    <p:sldId id="291" r:id="rId37"/>
    <p:sldId id="292" r:id="rId38"/>
    <p:sldId id="293" r:id="rId39"/>
    <p:sldId id="280" r:id="rId4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767"/>
    <a:srgbClr val="FFFFFF"/>
    <a:srgbClr val="003300"/>
    <a:srgbClr val="2F1444"/>
    <a:srgbClr val="D4B1D7"/>
    <a:srgbClr val="CC99FF"/>
    <a:srgbClr val="060309"/>
    <a:srgbClr val="C561C7"/>
    <a:srgbClr val="E989F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931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4D0CE-9BB3-4F04-B39A-4CC26CD09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0B0226-D6F1-4745-927C-F8697AB33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1870-AE21-4E78-A65B-A9E58F727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48B7F-F70F-4502-8D80-5EC09290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2FDC6-D317-4640-82D5-5C076A9C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913000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1715-0844-44A9-944F-7C8F976D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56899-E424-48A4-8DD4-D5ACE2C2A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3FBF3-FBFC-472B-ABC7-D6DB154E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71FD-01D9-4F58-9BD5-9D6B03F3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47165-4345-43A7-867D-EE3E8804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9410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E0D8-8552-4122-8B9F-5E723C7B2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95B69-0C93-4BFD-B7BA-FBD0AC7D0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6FEFE-0BD7-46F5-83A3-EA1898EE2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1721B-EE40-48BA-ADAC-6EC0E186D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0010-05ED-428E-A001-E9E04777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2314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4378-4F06-47A4-9410-F5508998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155D7-D098-40A9-AEA2-6061BDFDE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B3F42-F7F5-4DBA-87A6-D5E05AC64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A2313-CFD4-4F2A-B1AC-7826CD51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2885A-4072-4A13-8D68-D1B658A1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BC459-221F-4724-A27D-EB979F53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797300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A57F-E74C-4CEF-8B0D-AAFFD76F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6D8B2-AB26-4784-9072-13EAF17D7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7F28E-8C9E-46B8-B079-D22338315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A77B4D-CEEE-47AF-8248-57D54E816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9EE37-1693-4657-93DE-DED19723F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5A7962-D03C-4A26-A3C3-35DD8A66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B9743-E886-4605-B4F8-288BED4AE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698DFB-9AE9-4552-AC33-AD491C3B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58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FEA9-26F7-4473-B503-9FE68A27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5829B-325C-45DB-9F46-8202EB97D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D38C9-D814-4DA2-9D2E-33EA3D0A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A5646-4DD4-452D-8E50-BB1F85C2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446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8B7AD-A080-4695-94DD-419EBF71E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8323C-4151-45AB-9723-D0BFB344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97C9C-24DE-400C-BADF-54C5A7DD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19601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364C6-3427-4D34-B17A-47735CABA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5F505-5CFA-45FC-A5CB-DB01C4ADA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9521C-0698-4FB8-9DE6-A335A66A9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291FE-B126-41F9-9523-3DD4117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A6B60-DF75-4576-8902-B6B0B1DBE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F477D-066C-45E3-9922-7DD5BBA0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9443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4A9F-961D-4802-B991-080C34E7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77E20-CD37-4F39-BBF5-E9E5EEEEC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A9821-D85A-45D1-B4EF-E07894E04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32EA0-A87C-44C2-936F-415BBA426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BA5F1-9DC6-4BEA-B089-2BF06F78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C3AD6-38F7-47FB-BB2A-C5862B4B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4988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EFBFF-F1EC-46DC-BABA-50B20949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502F6-0440-4166-AEB7-7485397A3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D1EA0-2B33-46DB-B285-524A8A96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A1A98-87B9-4B68-9E20-E425355C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99F24-F288-40C3-919B-D8B72CCBF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0128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8431C-443B-4816-B7B6-143476272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57DE1-C44B-4363-8B6F-B524DD2EC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3BE66-CB83-4222-8BB5-B1675F55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BECC6-2FBD-4CA0-8205-3712EB73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BE3A3-F476-4AED-8AE1-4D0C76AE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8861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9841AD-C368-41F1-BF37-08401DF6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ED0FD-4D6F-4FAF-9662-5BADAA86F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5F773-67C6-4A64-9456-A98A5D2B4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43CAB-3E03-48EE-801B-0AA05C2E5BD3}" type="datetimeFigureOut">
              <a:rPr lang="sr-Latn-BA" smtClean="0"/>
              <a:t>11.4.2026.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516D8-23FE-4B59-A468-ED32B5BDE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40C0E-6206-482A-BAA0-DE54C50F0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6AE76-5DFC-4D12-816A-A44A7D98DEDD}" type="slidenum">
              <a:rPr lang="sr-Latn-BA" smtClean="0"/>
              <a:t>‹#›</a:t>
            </a:fld>
            <a:endParaRPr lang="sr-Latn-B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01DF98-BF3F-4B0C-94D3-5BB4F18E2A7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833783" y="-491844"/>
            <a:ext cx="2070847" cy="207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997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microsoft.com/office/2007/relationships/hdphoto" Target="../media/hdphoto1.wdp"/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12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15.sv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14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0.svg"/><Relationship Id="rId5" Type="http://schemas.openxmlformats.org/officeDocument/2006/relationships/image" Target="../media/image19.svg"/><Relationship Id="rId10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svg"/><Relationship Id="rId3" Type="http://schemas.openxmlformats.org/officeDocument/2006/relationships/image" Target="../media/image14.svg"/><Relationship Id="rId7" Type="http://schemas.openxmlformats.org/officeDocument/2006/relationships/image" Target="../media/image21.svg"/><Relationship Id="rId12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1.wdp"/><Relationship Id="rId5" Type="http://schemas.openxmlformats.org/officeDocument/2006/relationships/image" Target="../media/image19.svg"/><Relationship Id="rId10" Type="http://schemas.openxmlformats.org/officeDocument/2006/relationships/image" Target="../media/image2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0.svg"/><Relationship Id="rId3" Type="http://schemas.openxmlformats.org/officeDocument/2006/relationships/image" Target="../media/image24.svg"/><Relationship Id="rId7" Type="http://schemas.openxmlformats.org/officeDocument/2006/relationships/image" Target="../media/image21.svg"/><Relationship Id="rId12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1.wdp"/><Relationship Id="rId5" Type="http://schemas.openxmlformats.org/officeDocument/2006/relationships/image" Target="../media/image19.svg"/><Relationship Id="rId10" Type="http://schemas.openxmlformats.org/officeDocument/2006/relationships/image" Target="../media/image2.png"/><Relationship Id="rId4" Type="http://schemas.openxmlformats.org/officeDocument/2006/relationships/image" Target="../media/image18.png"/><Relationship Id="rId9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9.png"/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12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2.png"/><Relationship Id="rId5" Type="http://schemas.openxmlformats.org/officeDocument/2006/relationships/image" Target="../media/image19.svg"/><Relationship Id="rId10" Type="http://schemas.openxmlformats.org/officeDocument/2006/relationships/image" Target="../media/image31.emf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9.png"/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12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2.png"/><Relationship Id="rId5" Type="http://schemas.openxmlformats.org/officeDocument/2006/relationships/image" Target="../media/image19.svg"/><Relationship Id="rId10" Type="http://schemas.openxmlformats.org/officeDocument/2006/relationships/image" Target="../media/image32.emf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9.png"/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12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2.png"/><Relationship Id="rId5" Type="http://schemas.openxmlformats.org/officeDocument/2006/relationships/image" Target="../media/image19.svg"/><Relationship Id="rId10" Type="http://schemas.openxmlformats.org/officeDocument/2006/relationships/image" Target="../media/image33.emf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9.png"/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12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2.png"/><Relationship Id="rId5" Type="http://schemas.openxmlformats.org/officeDocument/2006/relationships/image" Target="../media/image19.svg"/><Relationship Id="rId10" Type="http://schemas.openxmlformats.org/officeDocument/2006/relationships/image" Target="../media/image34.emf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svg"/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microsoft.com/office/2007/relationships/hdphoto" Target="../media/hdphoto1.wdp"/><Relationship Id="rId5" Type="http://schemas.openxmlformats.org/officeDocument/2006/relationships/image" Target="../media/image19.svg"/><Relationship Id="rId10" Type="http://schemas.openxmlformats.org/officeDocument/2006/relationships/image" Target="../media/image2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sv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1.wdp"/><Relationship Id="rId5" Type="http://schemas.openxmlformats.org/officeDocument/2006/relationships/image" Target="../media/image36.svg"/><Relationship Id="rId10" Type="http://schemas.openxmlformats.org/officeDocument/2006/relationships/image" Target="../media/image2.png"/><Relationship Id="rId4" Type="http://schemas.openxmlformats.org/officeDocument/2006/relationships/image" Target="../media/image35.png"/><Relationship Id="rId9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.pn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1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9.png"/><Relationship Id="rId5" Type="http://schemas.openxmlformats.org/officeDocument/2006/relationships/image" Target="../media/image36.svg"/><Relationship Id="rId15" Type="http://schemas.openxmlformats.org/officeDocument/2006/relationships/image" Target="../media/image38.png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image" Target="../media/image23.svg"/><Relationship Id="rId1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2.png"/><Relationship Id="rId3" Type="http://schemas.openxmlformats.org/officeDocument/2006/relationships/image" Target="../media/image28.svg"/><Relationship Id="rId7" Type="http://schemas.openxmlformats.org/officeDocument/2006/relationships/image" Target="../media/image23.svg"/><Relationship Id="rId12" Type="http://schemas.openxmlformats.org/officeDocument/2006/relationships/image" Target="../media/image36.svg"/><Relationship Id="rId2" Type="http://schemas.openxmlformats.org/officeDocument/2006/relationships/image" Target="../media/image27.png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35.png"/><Relationship Id="rId5" Type="http://schemas.openxmlformats.org/officeDocument/2006/relationships/image" Target="../media/image21.svg"/><Relationship Id="rId15" Type="http://schemas.openxmlformats.org/officeDocument/2006/relationships/image" Target="../media/image9.png"/><Relationship Id="rId10" Type="http://schemas.microsoft.com/office/2007/relationships/hdphoto" Target="../media/hdphoto2.wdp"/><Relationship Id="rId4" Type="http://schemas.openxmlformats.org/officeDocument/2006/relationships/image" Target="../media/image20.png"/><Relationship Id="rId9" Type="http://schemas.openxmlformats.org/officeDocument/2006/relationships/image" Target="../media/image40.png"/><Relationship Id="rId1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sv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19.svg"/><Relationship Id="rId10" Type="http://schemas.openxmlformats.org/officeDocument/2006/relationships/image" Target="../media/image41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sv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19.svg"/><Relationship Id="rId10" Type="http://schemas.openxmlformats.org/officeDocument/2006/relationships/image" Target="../media/image41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sv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19.svg"/><Relationship Id="rId10" Type="http://schemas.openxmlformats.org/officeDocument/2006/relationships/image" Target="../media/image41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sv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19.svg"/><Relationship Id="rId10" Type="http://schemas.openxmlformats.org/officeDocument/2006/relationships/image" Target="../media/image41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sv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19.svg"/><Relationship Id="rId10" Type="http://schemas.openxmlformats.org/officeDocument/2006/relationships/image" Target="../media/image41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sv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19.svg"/><Relationship Id="rId10" Type="http://schemas.openxmlformats.org/officeDocument/2006/relationships/image" Target="../media/image41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sv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19.svg"/><Relationship Id="rId10" Type="http://schemas.openxmlformats.org/officeDocument/2006/relationships/image" Target="../media/image41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50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53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55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57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60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63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66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69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72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75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78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80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7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82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84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8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87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90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8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5" Type="http://schemas.openxmlformats.org/officeDocument/2006/relationships/image" Target="../media/image93.pn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9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1.wdp"/><Relationship Id="rId3" Type="http://schemas.openxmlformats.org/officeDocument/2006/relationships/image" Target="../media/image28.svg"/><Relationship Id="rId7" Type="http://schemas.openxmlformats.org/officeDocument/2006/relationships/image" Target="../media/image95.sv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48.svg"/><Relationship Id="rId5" Type="http://schemas.openxmlformats.org/officeDocument/2006/relationships/image" Target="../media/image19.svg"/><Relationship Id="rId10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2586161" y="448802"/>
            <a:ext cx="5357353" cy="5065589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2509965">
            <a:off x="-3588609" y="-37805"/>
            <a:ext cx="7987790" cy="7692643"/>
          </a:xfrm>
          <a:prstGeom prst="blockArc">
            <a:avLst>
              <a:gd name="adj1" fmla="val 11200670"/>
              <a:gd name="adj2" fmla="val 14062571"/>
              <a:gd name="adj3" fmla="val 24068"/>
            </a:avLst>
          </a:prstGeom>
          <a:solidFill>
            <a:srgbClr val="99F767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accent4"/>
              </a:solidFill>
              <a:highlight>
                <a:srgbClr val="FFFF00"/>
              </a:highligh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4C71BC-92A5-4A0E-9E10-83D08099B8A1}"/>
              </a:ext>
            </a:extLst>
          </p:cNvPr>
          <p:cNvSpPr/>
          <p:nvPr/>
        </p:nvSpPr>
        <p:spPr>
          <a:xfrm>
            <a:off x="4167997" y="2723725"/>
            <a:ext cx="6732176" cy="1410549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BA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pumpd</a:t>
            </a:r>
            <a:endParaRPr lang="sr-Latn-BA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23E0FE-C0A5-4929-946E-88705792884D}"/>
              </a:ext>
            </a:extLst>
          </p:cNvPr>
          <p:cNvSpPr/>
          <p:nvPr/>
        </p:nvSpPr>
        <p:spPr>
          <a:xfrm>
            <a:off x="2397156" y="146623"/>
            <a:ext cx="9691396" cy="1020984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B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endParaRPr lang="sr-Latn-BA" sz="3200" dirty="0">
              <a:solidFill>
                <a:srgbClr val="2F14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B027F2-648D-4E0B-9599-7554F73B60E4}"/>
              </a:ext>
            </a:extLst>
          </p:cNvPr>
          <p:cNvSpPr/>
          <p:nvPr/>
        </p:nvSpPr>
        <p:spPr>
          <a:xfrm>
            <a:off x="5761268" y="4198281"/>
            <a:ext cx="3545633" cy="914400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 prst="coolSlant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 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09B630-CF46-41DD-88FD-AAD185AC2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8754358" y="28968"/>
            <a:ext cx="1369972" cy="1369972"/>
          </a:xfrm>
          <a:prstGeom prst="rect">
            <a:avLst/>
          </a:prstGeom>
        </p:spPr>
      </p:pic>
      <p:pic>
        <p:nvPicPr>
          <p:cNvPr id="19" name="Graphic 18" descr="Questions with solid fill">
            <a:extLst>
              <a:ext uri="{FF2B5EF4-FFF2-40B4-BE49-F238E27FC236}">
                <a16:creationId xmlns:a16="http://schemas.microsoft.com/office/drawing/2014/main" id="{83635CE7-D0A9-47A9-AD7F-E3B3019740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9090" y="253207"/>
            <a:ext cx="748554" cy="748554"/>
          </a:xfrm>
          <a:prstGeom prst="rect">
            <a:avLst/>
          </a:prstGeom>
        </p:spPr>
      </p:pic>
      <p:pic>
        <p:nvPicPr>
          <p:cNvPr id="20" name="Graphic 19" descr="Bar chart with solid fill">
            <a:extLst>
              <a:ext uri="{FF2B5EF4-FFF2-40B4-BE49-F238E27FC236}">
                <a16:creationId xmlns:a16="http://schemas.microsoft.com/office/drawing/2014/main" id="{170E581D-E2C4-4DA1-9A77-34E89A2B1F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253207"/>
            <a:ext cx="748554" cy="748554"/>
          </a:xfrm>
          <a:prstGeom prst="rect">
            <a:avLst/>
          </a:prstGeom>
        </p:spPr>
      </p:pic>
      <p:pic>
        <p:nvPicPr>
          <p:cNvPr id="22" name="Graphic 21" descr="Users with solid fill">
            <a:extLst>
              <a:ext uri="{FF2B5EF4-FFF2-40B4-BE49-F238E27FC236}">
                <a16:creationId xmlns:a16="http://schemas.microsoft.com/office/drawing/2014/main" id="{11F1C027-B431-493B-9356-520FBC9040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68347" y="253207"/>
            <a:ext cx="748555" cy="748555"/>
          </a:xfrm>
          <a:prstGeom prst="rect">
            <a:avLst/>
          </a:prstGeom>
        </p:spPr>
      </p:pic>
      <p:pic>
        <p:nvPicPr>
          <p:cNvPr id="24" name="Graphic 23" descr="Smart Phone with solid fill">
            <a:extLst>
              <a:ext uri="{FF2B5EF4-FFF2-40B4-BE49-F238E27FC236}">
                <a16:creationId xmlns:a16="http://schemas.microsoft.com/office/drawing/2014/main" id="{EB2D3ABF-08A1-4ED3-B906-A8B04FC41B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61786" y="282837"/>
            <a:ext cx="748555" cy="748555"/>
          </a:xfrm>
          <a:prstGeom prst="rect">
            <a:avLst/>
          </a:prstGeom>
        </p:spPr>
      </p:pic>
      <p:pic>
        <p:nvPicPr>
          <p:cNvPr id="25" name="Graphic 24" descr="Lightbulb and gear with solid fill">
            <a:extLst>
              <a:ext uri="{FF2B5EF4-FFF2-40B4-BE49-F238E27FC236}">
                <a16:creationId xmlns:a16="http://schemas.microsoft.com/office/drawing/2014/main" id="{5F1F77D6-2418-4803-9DC2-397C927878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30799" y="253207"/>
            <a:ext cx="748554" cy="74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39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4738523">
            <a:off x="-4827666" y="-258472"/>
            <a:ext cx="8639818" cy="8773484"/>
          </a:xfrm>
          <a:prstGeom prst="blockArc">
            <a:avLst>
              <a:gd name="adj1" fmla="val 12544385"/>
              <a:gd name="adj2" fmla="val 13978564"/>
              <a:gd name="adj3" fmla="val 21955"/>
            </a:avLst>
          </a:prstGeom>
          <a:solidFill>
            <a:srgbClr val="99F767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1" y="511433"/>
            <a:ext cx="1276109" cy="1276109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2537" y="379260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51393" y="2539625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05337" y="1313726"/>
            <a:ext cx="914400" cy="9144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9BD4ED-928E-4312-925D-81C1F9DE979E}"/>
              </a:ext>
            </a:extLst>
          </p:cNvPr>
          <p:cNvSpPr/>
          <p:nvPr/>
        </p:nvSpPr>
        <p:spPr>
          <a:xfrm>
            <a:off x="4739951" y="2214093"/>
            <a:ext cx="6360407" cy="4046747"/>
          </a:xfrm>
          <a:prstGeom prst="roundRect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1D3391-D498-46A2-AC28-B79A8D428C7C}"/>
              </a:ext>
            </a:extLst>
          </p:cNvPr>
          <p:cNvSpPr/>
          <p:nvPr/>
        </p:nvSpPr>
        <p:spPr>
          <a:xfrm>
            <a:off x="4269249" y="1655180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r-Latn-B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 i inspiracija</a:t>
            </a:r>
          </a:p>
          <a:p>
            <a:pPr algn="ctr"/>
            <a:endParaRPr lang="sr-Latn-BA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AF1F9C-06C9-47A1-91C6-33181E78EC48}"/>
              </a:ext>
            </a:extLst>
          </p:cNvPr>
          <p:cNvSpPr/>
          <p:nvPr/>
        </p:nvSpPr>
        <p:spPr>
          <a:xfrm>
            <a:off x="4217437" y="1655180"/>
            <a:ext cx="1247856" cy="1192191"/>
          </a:xfrm>
          <a:prstGeom prst="ellipse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BA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61821-838C-4487-ADB9-9C3E7EB9A6FD}"/>
              </a:ext>
            </a:extLst>
          </p:cNvPr>
          <p:cNvSpPr txBox="1"/>
          <p:nvPr/>
        </p:nvSpPr>
        <p:spPr>
          <a:xfrm>
            <a:off x="4934358" y="2996825"/>
            <a:ext cx="5971592" cy="2862322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Sve veći broj ljudi teži zdravom načinu života i redovnoj fizičkoj aktivnosti, ali često nailazi na prepreke u organizaciji i praćenju napretka.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Mnogi korisnici suočavaju se sa problemom zaboravljanja planova treninga, kartica ili termina, što otežava kontinuitet i motivaciju.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pumpd</a:t>
            </a:r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pruža jednostavno, moderno i personalizovano rješenje koje olakšava vođenje treninga i omogućava korisnicima da maksimalno iskoriste svoje vrijeme u teretani.</a:t>
            </a:r>
          </a:p>
        </p:txBody>
      </p:sp>
      <p:pic>
        <p:nvPicPr>
          <p:cNvPr id="15" name="Graphic 14" descr="Smart Phone with solid fill">
            <a:extLst>
              <a:ext uri="{FF2B5EF4-FFF2-40B4-BE49-F238E27FC236}">
                <a16:creationId xmlns:a16="http://schemas.microsoft.com/office/drawing/2014/main" id="{6624814F-81F2-43BD-B160-A006CDA687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4136" y="5539738"/>
            <a:ext cx="914399" cy="914399"/>
          </a:xfrm>
          <a:prstGeom prst="rect">
            <a:avLst/>
          </a:prstGeom>
        </p:spPr>
      </p:pic>
      <p:sp>
        <p:nvSpPr>
          <p:cNvPr id="5" name="AutoShape 2" descr="Generated image: Black and white network symbol">
            <a:extLst>
              <a:ext uri="{FF2B5EF4-FFF2-40B4-BE49-F238E27FC236}">
                <a16:creationId xmlns:a16="http://schemas.microsoft.com/office/drawing/2014/main" id="{0DD7D2C1-AD1E-42E2-8A47-419746857B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7097" y="48310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Latn-B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5CBC8D-60BA-48DD-A19C-8F21376CF9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39065" y="4629875"/>
            <a:ext cx="1565664" cy="156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4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16626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4738523">
            <a:off x="-4827666" y="-258472"/>
            <a:ext cx="8639818" cy="8773484"/>
          </a:xfrm>
          <a:prstGeom prst="blockArc">
            <a:avLst>
              <a:gd name="adj1" fmla="val 12544385"/>
              <a:gd name="adj2" fmla="val 13978564"/>
              <a:gd name="adj3" fmla="val 21955"/>
            </a:avLst>
          </a:prstGeom>
          <a:solidFill>
            <a:srgbClr val="99F767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1" y="511433"/>
            <a:ext cx="1276109" cy="1276109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2537" y="379260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51393" y="2539625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05337" y="1313726"/>
            <a:ext cx="914400" cy="9144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9BD4ED-928E-4312-925D-81C1F9DE979E}"/>
              </a:ext>
            </a:extLst>
          </p:cNvPr>
          <p:cNvSpPr/>
          <p:nvPr/>
        </p:nvSpPr>
        <p:spPr>
          <a:xfrm>
            <a:off x="4739951" y="2214093"/>
            <a:ext cx="6360407" cy="4046747"/>
          </a:xfrm>
          <a:prstGeom prst="roundRect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sr-Latn-BA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BA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Koliko nas svakodnevno zaboravlja planove treninga ili članske kartice?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Koliko je teško pratiti napredak i ostati motivisan u teretani?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Kako olakšati praćenje treninga, evidenciju i planiranje vježbi na jednostavan način?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Zašto su informacije o trenerima i terminima često raspršene i teško dostupne?</a:t>
            </a:r>
            <a:endParaRPr lang="pl-PL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Osnovna ideja i motiv: sve na jednom mjestu</a:t>
            </a:r>
            <a:endParaRPr lang="sr-Latn-BA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sr-Latn-BA" sz="2000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1D3391-D498-46A2-AC28-B79A8D428C7C}"/>
              </a:ext>
            </a:extLst>
          </p:cNvPr>
          <p:cNvSpPr/>
          <p:nvPr/>
        </p:nvSpPr>
        <p:spPr>
          <a:xfrm>
            <a:off x="4269249" y="1655180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r-Latn-B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Opis problema</a:t>
            </a:r>
          </a:p>
          <a:p>
            <a:pPr algn="ctr"/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AF1F9C-06C9-47A1-91C6-33181E78EC48}"/>
              </a:ext>
            </a:extLst>
          </p:cNvPr>
          <p:cNvSpPr/>
          <p:nvPr/>
        </p:nvSpPr>
        <p:spPr>
          <a:xfrm>
            <a:off x="4217437" y="1655180"/>
            <a:ext cx="1247856" cy="1192191"/>
          </a:xfrm>
          <a:prstGeom prst="ellipse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6" name="Graphic 15" descr="Smart Phone with solid fill">
            <a:extLst>
              <a:ext uri="{FF2B5EF4-FFF2-40B4-BE49-F238E27FC236}">
                <a16:creationId xmlns:a16="http://schemas.microsoft.com/office/drawing/2014/main" id="{51AE2F45-57AF-4E13-A380-2B4D967C39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4136" y="5539738"/>
            <a:ext cx="914399" cy="9143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A6BA8ED-5B76-4568-BBED-ABE872E3F09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39065" y="4629875"/>
            <a:ext cx="1565664" cy="156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19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4738523">
            <a:off x="-4827666" y="-258472"/>
            <a:ext cx="8639818" cy="8773484"/>
          </a:xfrm>
          <a:prstGeom prst="blockArc">
            <a:avLst>
              <a:gd name="adj1" fmla="val 12544385"/>
              <a:gd name="adj2" fmla="val 13978564"/>
              <a:gd name="adj3" fmla="val 21955"/>
            </a:avLst>
          </a:prstGeom>
          <a:solidFill>
            <a:srgbClr val="99F767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1" y="511433"/>
            <a:ext cx="1276109" cy="1276109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2537" y="379260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51393" y="2539625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05337" y="1313726"/>
            <a:ext cx="914400" cy="9144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9BD4ED-928E-4312-925D-81C1F9DE979E}"/>
              </a:ext>
            </a:extLst>
          </p:cNvPr>
          <p:cNvSpPr/>
          <p:nvPr/>
        </p:nvSpPr>
        <p:spPr>
          <a:xfrm>
            <a:off x="4739951" y="2214093"/>
            <a:ext cx="6360407" cy="4046747"/>
          </a:xfrm>
          <a:prstGeom prst="roundRect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sr-Latn-BA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Pregled popunjenosti teretane i grupnih treninga.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Kreiranje i praćenje personalizovanog plana treninga</a:t>
            </a:r>
            <a:r>
              <a:rPr lang="sr-Latn-B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Digitalna članska kartica i praćenje prisustva.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Mogućnost povezivanja sa trenerima i praćenje njihovog rada.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Jednostavno i intuitivno korisničko iskustvo prilagođeno potrebama modernih korisnika.</a:t>
            </a:r>
          </a:p>
          <a:p>
            <a:pPr algn="ctr"/>
            <a:endParaRPr lang="sr-Latn-BA" sz="2000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1D3391-D498-46A2-AC28-B79A8D428C7C}"/>
              </a:ext>
            </a:extLst>
          </p:cNvPr>
          <p:cNvSpPr/>
          <p:nvPr/>
        </p:nvSpPr>
        <p:spPr>
          <a:xfrm>
            <a:off x="4269249" y="1655180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r-Latn-B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Ideja</a:t>
            </a:r>
          </a:p>
          <a:p>
            <a:pPr algn="ctr"/>
            <a:endParaRPr lang="sr-Latn-BA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AF1F9C-06C9-47A1-91C6-33181E78EC48}"/>
              </a:ext>
            </a:extLst>
          </p:cNvPr>
          <p:cNvSpPr/>
          <p:nvPr/>
        </p:nvSpPr>
        <p:spPr>
          <a:xfrm>
            <a:off x="4217437" y="1655180"/>
            <a:ext cx="1247856" cy="1192191"/>
          </a:xfrm>
          <a:prstGeom prst="ellipse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5CF48E-5D9B-40F0-9C6C-736E12F120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39065" y="4629875"/>
            <a:ext cx="1565664" cy="1565664"/>
          </a:xfrm>
          <a:prstGeom prst="rect">
            <a:avLst/>
          </a:prstGeom>
        </p:spPr>
      </p:pic>
      <p:pic>
        <p:nvPicPr>
          <p:cNvPr id="22" name="Graphic 21" descr="Smart Phone with solid fill">
            <a:extLst>
              <a:ext uri="{FF2B5EF4-FFF2-40B4-BE49-F238E27FC236}">
                <a16:creationId xmlns:a16="http://schemas.microsoft.com/office/drawing/2014/main" id="{DAF14FE1-F7EE-4925-A0FC-12ACADBF24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4136" y="5539738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33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D64F33B-058C-4F79-BADF-E41092D7840A}"/>
              </a:ext>
            </a:extLst>
          </p:cNvPr>
          <p:cNvSpPr/>
          <p:nvPr/>
        </p:nvSpPr>
        <p:spPr>
          <a:xfrm>
            <a:off x="4739951" y="2214093"/>
            <a:ext cx="6360407" cy="4046747"/>
          </a:xfrm>
          <a:prstGeom prst="roundRect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sr-Latn-BA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 prikupljanje zahtjeva korištene su ankete i intervjui sa trenerima.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Analizirani su stavovi, potrebe i navike 164 ispitanika.</a:t>
            </a:r>
            <a:endParaRPr lang="sr-Latn-BA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Fokus je bio na identifikaciji ključnih funkcionalnosti koje korisnici zaista žele.</a:t>
            </a:r>
          </a:p>
          <a:p>
            <a:pPr algn="ctr"/>
            <a:endParaRPr lang="sr-Latn-BA" sz="2400" dirty="0">
              <a:solidFill>
                <a:schemeClr val="bg1"/>
              </a:solidFill>
            </a:endParaRPr>
          </a:p>
        </p:txBody>
      </p: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6160983">
            <a:off x="-5066424" y="-548103"/>
            <a:ext cx="8836014" cy="9098201"/>
          </a:xfrm>
          <a:prstGeom prst="blockArc">
            <a:avLst>
              <a:gd name="adj1" fmla="val 12544385"/>
              <a:gd name="adj2" fmla="val 14064732"/>
              <a:gd name="adj3" fmla="val 22265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2537" y="379260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8046" y="2730224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7544" y="1214264"/>
            <a:ext cx="1367980" cy="1367980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E5C5070-EE36-435D-B539-105B2C159A38}"/>
              </a:ext>
            </a:extLst>
          </p:cNvPr>
          <p:cNvSpPr/>
          <p:nvPr/>
        </p:nvSpPr>
        <p:spPr>
          <a:xfrm>
            <a:off x="4269249" y="1655180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r-Latn-B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zmamljivanje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zahtjeva</a:t>
            </a:r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7CD0873-9919-421F-B4EF-8060063DAC9A}"/>
              </a:ext>
            </a:extLst>
          </p:cNvPr>
          <p:cNvSpPr/>
          <p:nvPr/>
        </p:nvSpPr>
        <p:spPr>
          <a:xfrm>
            <a:off x="4217437" y="1655180"/>
            <a:ext cx="1247856" cy="1192191"/>
          </a:xfrm>
          <a:prstGeom prst="ellipse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sr-Latn-B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C2BE29-6974-481D-A5EB-4C0E8C7D77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39065" y="4629875"/>
            <a:ext cx="1565664" cy="1565664"/>
          </a:xfrm>
          <a:prstGeom prst="rect">
            <a:avLst/>
          </a:prstGeom>
        </p:spPr>
      </p:pic>
      <p:pic>
        <p:nvPicPr>
          <p:cNvPr id="18" name="Graphic 17" descr="Smart Phone with solid fill">
            <a:extLst>
              <a:ext uri="{FF2B5EF4-FFF2-40B4-BE49-F238E27FC236}">
                <a16:creationId xmlns:a16="http://schemas.microsoft.com/office/drawing/2014/main" id="{1D8FBC03-75EB-41E9-A325-8C0E2A3C9B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4136" y="5539738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48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7508044">
            <a:off x="-5325544" y="-858725"/>
            <a:ext cx="8955158" cy="9019035"/>
          </a:xfrm>
          <a:prstGeom prst="blockArc">
            <a:avLst>
              <a:gd name="adj1" fmla="val 13036016"/>
              <a:gd name="adj2" fmla="val 14497966"/>
              <a:gd name="adj3" fmla="val 2393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7472" y="3980672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20954" y="2580611"/>
            <a:ext cx="1331101" cy="1331101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A58706-E73C-44C6-9E32-E03093A06932}"/>
              </a:ext>
            </a:extLst>
          </p:cNvPr>
          <p:cNvSpPr/>
          <p:nvPr/>
        </p:nvSpPr>
        <p:spPr>
          <a:xfrm>
            <a:off x="4279848" y="1436874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Rezultati anketa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DAADB62-CFE4-4507-B180-5E2F4CBA6D02}"/>
              </a:ext>
            </a:extLst>
          </p:cNvPr>
          <p:cNvSpPr/>
          <p:nvPr/>
        </p:nvSpPr>
        <p:spPr>
          <a:xfrm>
            <a:off x="4279848" y="1436874"/>
            <a:ext cx="1247856" cy="1192191"/>
          </a:xfrm>
          <a:prstGeom prst="ellipse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6EBE35-98EF-4EA9-97A9-DA6147A41A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8090" y="2811627"/>
            <a:ext cx="7040880" cy="364251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75719A-8AF2-4593-BF52-AC68C6A55B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39065" y="4629875"/>
            <a:ext cx="1565664" cy="1565664"/>
          </a:xfrm>
          <a:prstGeom prst="rect">
            <a:avLst/>
          </a:prstGeom>
        </p:spPr>
      </p:pic>
      <p:pic>
        <p:nvPicPr>
          <p:cNvPr id="19" name="Graphic 18" descr="Smart Phone with solid fill">
            <a:extLst>
              <a:ext uri="{FF2B5EF4-FFF2-40B4-BE49-F238E27FC236}">
                <a16:creationId xmlns:a16="http://schemas.microsoft.com/office/drawing/2014/main" id="{4B866987-9409-4888-B2E2-7760CE1F7DF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4136" y="5539738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71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7508044">
            <a:off x="-5325544" y="-858725"/>
            <a:ext cx="8955158" cy="9019035"/>
          </a:xfrm>
          <a:prstGeom prst="blockArc">
            <a:avLst>
              <a:gd name="adj1" fmla="val 13036016"/>
              <a:gd name="adj2" fmla="val 14497966"/>
              <a:gd name="adj3" fmla="val 2393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17632" y="3990832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20954" y="2580611"/>
            <a:ext cx="1331101" cy="1331101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89B498-FF1A-4256-B236-A906B4DCD1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2989" y="1425834"/>
            <a:ext cx="7572529" cy="424276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D22A60-5BAC-47E3-B4FD-53F3F7372BA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39065" y="4629875"/>
            <a:ext cx="1565664" cy="1565664"/>
          </a:xfrm>
          <a:prstGeom prst="rect">
            <a:avLst/>
          </a:prstGeom>
        </p:spPr>
      </p:pic>
      <p:pic>
        <p:nvPicPr>
          <p:cNvPr id="19" name="Graphic 18" descr="Smart Phone with solid fill">
            <a:extLst>
              <a:ext uri="{FF2B5EF4-FFF2-40B4-BE49-F238E27FC236}">
                <a16:creationId xmlns:a16="http://schemas.microsoft.com/office/drawing/2014/main" id="{3D9A47D7-3848-44AA-8DA4-6F0A74CDFB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4136" y="5539738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69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7508044">
            <a:off x="-5325544" y="-858725"/>
            <a:ext cx="8955158" cy="9019035"/>
          </a:xfrm>
          <a:prstGeom prst="blockArc">
            <a:avLst>
              <a:gd name="adj1" fmla="val 13036016"/>
              <a:gd name="adj2" fmla="val 14497966"/>
              <a:gd name="adj3" fmla="val 2393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7472" y="3980672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20954" y="2580611"/>
            <a:ext cx="1331101" cy="1331101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B5CF1B-87CA-4017-B11E-7C14EF2C09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0279" y="1631699"/>
            <a:ext cx="7702978" cy="390803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2C65F4-A90D-4DF0-959F-1B023F71E7A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39065" y="4629875"/>
            <a:ext cx="1565664" cy="1565664"/>
          </a:xfrm>
          <a:prstGeom prst="rect">
            <a:avLst/>
          </a:prstGeom>
        </p:spPr>
      </p:pic>
      <p:pic>
        <p:nvPicPr>
          <p:cNvPr id="19" name="Graphic 18" descr="Smart Phone with solid fill">
            <a:extLst>
              <a:ext uri="{FF2B5EF4-FFF2-40B4-BE49-F238E27FC236}">
                <a16:creationId xmlns:a16="http://schemas.microsoft.com/office/drawing/2014/main" id="{38DF1FE6-B386-4A0E-B324-6EED70827CF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4136" y="5539738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62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7508044">
            <a:off x="-5325544" y="-858725"/>
            <a:ext cx="8955158" cy="9019035"/>
          </a:xfrm>
          <a:prstGeom prst="blockArc">
            <a:avLst>
              <a:gd name="adj1" fmla="val 13036016"/>
              <a:gd name="adj2" fmla="val 14497966"/>
              <a:gd name="adj3" fmla="val 2393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7472" y="3980672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20954" y="2580611"/>
            <a:ext cx="1331101" cy="1331101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D9F3E1-12AC-4FF7-95F6-AE3D765169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4969" y="1425834"/>
            <a:ext cx="7887197" cy="418632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622B28-05DD-4E06-A232-D5A909D46E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39065" y="4629875"/>
            <a:ext cx="1565664" cy="1565664"/>
          </a:xfrm>
          <a:prstGeom prst="rect">
            <a:avLst/>
          </a:prstGeom>
        </p:spPr>
      </p:pic>
      <p:pic>
        <p:nvPicPr>
          <p:cNvPr id="19" name="Graphic 18" descr="Smart Phone with solid fill">
            <a:extLst>
              <a:ext uri="{FF2B5EF4-FFF2-40B4-BE49-F238E27FC236}">
                <a16:creationId xmlns:a16="http://schemas.microsoft.com/office/drawing/2014/main" id="{79CAC12A-D10F-41EF-BC36-F4E8003AE74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4136" y="5539738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56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7508044">
            <a:off x="-5325544" y="-858725"/>
            <a:ext cx="8955158" cy="9019035"/>
          </a:xfrm>
          <a:prstGeom prst="blockArc">
            <a:avLst>
              <a:gd name="adj1" fmla="val 13036016"/>
              <a:gd name="adj2" fmla="val 14497966"/>
              <a:gd name="adj3" fmla="val 2393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7472" y="3980672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20954" y="2580611"/>
            <a:ext cx="1331101" cy="1331101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A58706-E73C-44C6-9E32-E03093A06932}"/>
              </a:ext>
            </a:extLst>
          </p:cNvPr>
          <p:cNvSpPr/>
          <p:nvPr/>
        </p:nvSpPr>
        <p:spPr>
          <a:xfrm>
            <a:off x="4279848" y="1436874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Rezultati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intervjua</a:t>
            </a:r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DAADB62-CFE4-4507-B180-5E2F4CBA6D02}"/>
              </a:ext>
            </a:extLst>
          </p:cNvPr>
          <p:cNvSpPr/>
          <p:nvPr/>
        </p:nvSpPr>
        <p:spPr>
          <a:xfrm>
            <a:off x="4279848" y="1436874"/>
            <a:ext cx="1247856" cy="1192191"/>
          </a:xfrm>
          <a:prstGeom prst="ellipse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r-Latn-B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99F8B846-6CAE-444B-A912-C5DDA397CF15}"/>
              </a:ext>
            </a:extLst>
          </p:cNvPr>
          <p:cNvSpPr/>
          <p:nvPr/>
        </p:nvSpPr>
        <p:spPr>
          <a:xfrm>
            <a:off x="4589666" y="2682352"/>
            <a:ext cx="3146127" cy="2142352"/>
          </a:xfrm>
          <a:prstGeom prst="wedgeEllipseCallout">
            <a:avLst>
              <a:gd name="adj1" fmla="val -41501"/>
              <a:gd name="adj2" fmla="val 54438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„Posebno ističe značaj objavljivanja edukativnog sadržaja na ličnom profilu unutar aplikacije.“ (trener Jovica, Fitness centar Univerzum)</a:t>
            </a:r>
          </a:p>
        </p:txBody>
      </p:sp>
      <p:sp>
        <p:nvSpPr>
          <p:cNvPr id="17" name="Speech Bubble: Oval 16">
            <a:extLst>
              <a:ext uri="{FF2B5EF4-FFF2-40B4-BE49-F238E27FC236}">
                <a16:creationId xmlns:a16="http://schemas.microsoft.com/office/drawing/2014/main" id="{6C12EF42-4FF0-4B24-92A4-B515311A5DCB}"/>
              </a:ext>
            </a:extLst>
          </p:cNvPr>
          <p:cNvSpPr/>
          <p:nvPr/>
        </p:nvSpPr>
        <p:spPr>
          <a:xfrm flipH="1">
            <a:off x="8640147" y="2920482"/>
            <a:ext cx="3430558" cy="2298087"/>
          </a:xfrm>
          <a:prstGeom prst="wedgeEllipseCallout">
            <a:avLst>
              <a:gd name="adj1" fmla="val -46991"/>
              <a:gd name="adj2" fmla="val 435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„Velika prednost platforme bila bi mogućnost vođenja detaljne evidencije o članovima teretane.“(trener Jovica, Fitness centar Univerzum)</a:t>
            </a:r>
          </a:p>
        </p:txBody>
      </p:sp>
      <p:sp>
        <p:nvSpPr>
          <p:cNvPr id="18" name="Speech Bubble: Oval 17">
            <a:extLst>
              <a:ext uri="{FF2B5EF4-FFF2-40B4-BE49-F238E27FC236}">
                <a16:creationId xmlns:a16="http://schemas.microsoft.com/office/drawing/2014/main" id="{F9BB24F3-A6A5-4677-8F56-980AFCC3AE8B}"/>
              </a:ext>
            </a:extLst>
          </p:cNvPr>
          <p:cNvSpPr/>
          <p:nvPr/>
        </p:nvSpPr>
        <p:spPr>
          <a:xfrm>
            <a:off x="6421120" y="4683760"/>
            <a:ext cx="3264056" cy="1988376"/>
          </a:xfrm>
          <a:prstGeom prst="wedgeEllipseCallout">
            <a:avLst>
              <a:gd name="adj1" fmla="val -37592"/>
              <a:gd name="adj2" fmla="val 57632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„Ostavljanje recenzija smatra korisnim jer mu mnogo znači feedback članova.“ </a:t>
            </a:r>
            <a:r>
              <a:rPr lang="sr-Latn-BA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(Adi </a:t>
            </a:r>
            <a:r>
              <a:rPr lang="sr-Latn-BA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Fazlić,  trener i vlasnik teretane </a:t>
            </a:r>
            <a:r>
              <a:rPr lang="sr-Latn-BA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sr-Latn-BA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Shape</a:t>
            </a:r>
            <a:r>
              <a:rPr lang="sr-Latn-BA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sr-Latn-BA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593F49-ADA4-461D-81E5-A2CD89B9AF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39065" y="4629875"/>
            <a:ext cx="1565664" cy="1565664"/>
          </a:xfrm>
          <a:prstGeom prst="rect">
            <a:avLst/>
          </a:prstGeom>
        </p:spPr>
      </p:pic>
      <p:pic>
        <p:nvPicPr>
          <p:cNvPr id="22" name="Graphic 21" descr="Smart Phone with solid fill">
            <a:extLst>
              <a:ext uri="{FF2B5EF4-FFF2-40B4-BE49-F238E27FC236}">
                <a16:creationId xmlns:a16="http://schemas.microsoft.com/office/drawing/2014/main" id="{1B914F88-C15F-4858-B853-EDD5AEA06B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4136" y="5539738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84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9623765">
            <a:off x="-4288492" y="-870479"/>
            <a:ext cx="8136466" cy="8178708"/>
          </a:xfrm>
          <a:prstGeom prst="blockArc">
            <a:avLst>
              <a:gd name="adj1" fmla="val 12508007"/>
              <a:gd name="adj2" fmla="val 14144622"/>
              <a:gd name="adj3" fmla="val 2661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883" y="3693971"/>
            <a:ext cx="1493363" cy="1493363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4ADF27-9674-498C-9B07-526D4F075709}"/>
              </a:ext>
            </a:extLst>
          </p:cNvPr>
          <p:cNvSpPr/>
          <p:nvPr/>
        </p:nvSpPr>
        <p:spPr>
          <a:xfrm>
            <a:off x="4739951" y="2214093"/>
            <a:ext cx="6360407" cy="4046747"/>
          </a:xfrm>
          <a:prstGeom prst="roundRect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Korisnik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B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Zaposleni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sr-Latn-B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sr-Latn-B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Radnik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B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B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Član</a:t>
            </a:r>
          </a:p>
          <a:p>
            <a:pPr algn="ctr"/>
            <a:endParaRPr lang="sr-Latn-BA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06EAD61-18EC-4125-B530-B07C45C96277}"/>
              </a:ext>
            </a:extLst>
          </p:cNvPr>
          <p:cNvSpPr/>
          <p:nvPr/>
        </p:nvSpPr>
        <p:spPr>
          <a:xfrm>
            <a:off x="4269249" y="1655180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r-Latn-B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Korisnici sistema</a:t>
            </a:r>
          </a:p>
          <a:p>
            <a:pPr algn="ctr"/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C405896-32C8-46DC-8CD3-38F8DA955AFA}"/>
              </a:ext>
            </a:extLst>
          </p:cNvPr>
          <p:cNvSpPr/>
          <p:nvPr/>
        </p:nvSpPr>
        <p:spPr>
          <a:xfrm>
            <a:off x="4217437" y="1655180"/>
            <a:ext cx="1247856" cy="1192191"/>
          </a:xfrm>
          <a:prstGeom prst="ellipse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sr-Latn-B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54CF7A-6B19-4FB0-BE90-BA192C6E38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033182" y="4873342"/>
            <a:ext cx="1565664" cy="1565664"/>
          </a:xfrm>
          <a:prstGeom prst="rect">
            <a:avLst/>
          </a:prstGeom>
        </p:spPr>
      </p:pic>
      <p:pic>
        <p:nvPicPr>
          <p:cNvPr id="16" name="Graphic 15" descr="Smart Phone with solid fill">
            <a:extLst>
              <a:ext uri="{FF2B5EF4-FFF2-40B4-BE49-F238E27FC236}">
                <a16:creationId xmlns:a16="http://schemas.microsoft.com/office/drawing/2014/main" id="{C2AAFCB1-F312-4234-994C-5FCA16B536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0632" y="5695899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89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9623765">
            <a:off x="-4288492" y="-870479"/>
            <a:ext cx="8136466" cy="8178708"/>
          </a:xfrm>
          <a:prstGeom prst="blockArc">
            <a:avLst>
              <a:gd name="adj1" fmla="val 12508007"/>
              <a:gd name="adj2" fmla="val 14144622"/>
              <a:gd name="adj3" fmla="val 2661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883" y="3693971"/>
            <a:ext cx="1493363" cy="1493363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941536-DB02-4F03-9CB7-C5720BC13B0B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843206" y="1258891"/>
            <a:ext cx="3181761" cy="3181761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650F04-8A6E-4603-B802-83E06F66EEA2}"/>
              </a:ext>
            </a:extLst>
          </p:cNvPr>
          <p:cNvSpPr/>
          <p:nvPr/>
        </p:nvSpPr>
        <p:spPr>
          <a:xfrm>
            <a:off x="4041491" y="4153773"/>
            <a:ext cx="3662082" cy="2067122"/>
          </a:xfrm>
          <a:prstGeom prst="roundRect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Radnik</a:t>
            </a:r>
          </a:p>
          <a:p>
            <a:pPr algn="ctr"/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Zaposleni koji obavlja operativne zadatke poput evidencije članova i ima uvid u terminima grupnih treninga.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C70EB9F-6EE0-476D-82DC-73A014A19B87}"/>
              </a:ext>
            </a:extLst>
          </p:cNvPr>
          <p:cNvSpPr/>
          <p:nvPr/>
        </p:nvSpPr>
        <p:spPr>
          <a:xfrm>
            <a:off x="8430076" y="4153773"/>
            <a:ext cx="3662082" cy="2067122"/>
          </a:xfrm>
          <a:prstGeom prst="roundRect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</a:t>
            </a:r>
          </a:p>
          <a:p>
            <a:pPr algn="ctr"/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Korisnik sa najvišim nivoom ovlaštenja koji upravlja sistemom, korisnicima i svim podacima u aplikaciji.</a:t>
            </a:r>
          </a:p>
        </p:txBody>
      </p:sp>
      <p:pic>
        <p:nvPicPr>
          <p:cNvPr id="15" name="Graphic 14" descr="Smart Phone with solid fill">
            <a:extLst>
              <a:ext uri="{FF2B5EF4-FFF2-40B4-BE49-F238E27FC236}">
                <a16:creationId xmlns:a16="http://schemas.microsoft.com/office/drawing/2014/main" id="{6C4D755E-9324-4FAE-B121-1BF93F37283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6763" y="5656174"/>
            <a:ext cx="914399" cy="9143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B28535-8556-4805-BF51-7A9ACF8664F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021128" y="4914305"/>
            <a:ext cx="1565664" cy="15656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710947-8D79-4FB8-9C00-E81C6C044B4F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 bright="70000" contrast="-70000"/>
          </a:blip>
          <a:stretch>
            <a:fillRect/>
          </a:stretch>
        </p:blipFill>
        <p:spPr>
          <a:xfrm>
            <a:off x="4204696" y="1104473"/>
            <a:ext cx="3490595" cy="349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33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9623765">
            <a:off x="-4288492" y="-870479"/>
            <a:ext cx="8136466" cy="8178708"/>
          </a:xfrm>
          <a:prstGeom prst="blockArc">
            <a:avLst>
              <a:gd name="adj1" fmla="val 12508007"/>
              <a:gd name="adj2" fmla="val 14144622"/>
              <a:gd name="adj3" fmla="val 2661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4D58E4-3677-4731-8CC3-5C61B4F96392}"/>
              </a:ext>
            </a:extLst>
          </p:cNvPr>
          <p:cNvSpPr/>
          <p:nvPr/>
        </p:nvSpPr>
        <p:spPr>
          <a:xfrm>
            <a:off x="4264959" y="4412092"/>
            <a:ext cx="3662082" cy="2067122"/>
          </a:xfrm>
          <a:prstGeom prst="roundRect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Član</a:t>
            </a:r>
          </a:p>
          <a:p>
            <a:pPr algn="ctr"/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Registrovani korisnik koji koristi usluge teretane, zakazuje treninge i prati svoje rezultate.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9967D7-2E09-4B01-94C6-479B354D81D0}"/>
              </a:ext>
            </a:extLst>
          </p:cNvPr>
          <p:cNvSpPr/>
          <p:nvPr/>
        </p:nvSpPr>
        <p:spPr>
          <a:xfrm>
            <a:off x="8209145" y="4440652"/>
            <a:ext cx="3662082" cy="2067122"/>
          </a:xfrm>
          <a:prstGeom prst="roundRect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Trener</a:t>
            </a:r>
          </a:p>
          <a:p>
            <a:pPr algn="ctr"/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Stručno lice koje planira i vodi treninge i objavljuje edukativni sadržaj.</a:t>
            </a:r>
          </a:p>
        </p:txBody>
      </p:sp>
      <p:sp>
        <p:nvSpPr>
          <p:cNvPr id="4" name="AutoShape 6" descr="Generated image: Overseeing figure with smaller group">
            <a:extLst>
              <a:ext uri="{FF2B5EF4-FFF2-40B4-BE49-F238E27FC236}">
                <a16:creationId xmlns:a16="http://schemas.microsoft.com/office/drawing/2014/main" id="{2E5B3BF1-4434-4BDD-9CE2-84876C3F21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825523" cy="182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Latn-B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D82EF-781D-495D-895C-2E5B4D484E08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4133213" y="968634"/>
            <a:ext cx="3715126" cy="37151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587528-83F2-4831-97CA-BA3F563135FE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51953" y1="39063" x2="51953" y2="39063"/>
                        <a14:foregroundMark x1="49805" y1="55273" x2="49805" y2="55273"/>
                        <a14:foregroundMark x1="50195" y1="67285" x2="50195" y2="67285"/>
                        <a14:foregroundMark x1="51660" y1="28418" x2="51660" y2="28418"/>
                        <a14:backgroundMark x1="39648" y1="27637" x2="39648" y2="27637"/>
                        <a14:backgroundMark x1="60547" y1="27930" x2="60547" y2="279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7041" y="648203"/>
            <a:ext cx="4124960" cy="4124960"/>
          </a:xfrm>
          <a:prstGeom prst="rect">
            <a:avLst/>
          </a:prstGeom>
        </p:spPr>
      </p:pic>
      <p:pic>
        <p:nvPicPr>
          <p:cNvPr id="23" name="Graphic 22" descr="Users with solid fill">
            <a:extLst>
              <a:ext uri="{FF2B5EF4-FFF2-40B4-BE49-F238E27FC236}">
                <a16:creationId xmlns:a16="http://schemas.microsoft.com/office/drawing/2014/main" id="{264AC0CF-7B4E-4EEE-8510-076E63A3E1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30883" y="3693971"/>
            <a:ext cx="1493363" cy="14933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628BCF-1EB4-410B-B74B-0BD455A742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021128" y="4914305"/>
            <a:ext cx="1565664" cy="1565664"/>
          </a:xfrm>
          <a:prstGeom prst="rect">
            <a:avLst/>
          </a:prstGeom>
        </p:spPr>
      </p:pic>
      <p:pic>
        <p:nvPicPr>
          <p:cNvPr id="18" name="Graphic 17" descr="Smart Phone with solid fill">
            <a:extLst>
              <a:ext uri="{FF2B5EF4-FFF2-40B4-BE49-F238E27FC236}">
                <a16:creationId xmlns:a16="http://schemas.microsoft.com/office/drawing/2014/main" id="{74299B5E-52F7-4427-A851-AAAAE269CC5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96763" y="5656174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50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1120260">
            <a:off x="-4288492" y="-870479"/>
            <a:ext cx="8136466" cy="8178708"/>
          </a:xfrm>
          <a:prstGeom prst="blockArc">
            <a:avLst>
              <a:gd name="adj1" fmla="val 12508007"/>
              <a:gd name="adj2" fmla="val 14144622"/>
              <a:gd name="adj3" fmla="val 2661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FC5720-F6F9-4CED-A1E5-40240646054A}"/>
              </a:ext>
            </a:extLst>
          </p:cNvPr>
          <p:cNvSpPr/>
          <p:nvPr/>
        </p:nvSpPr>
        <p:spPr>
          <a:xfrm>
            <a:off x="4352573" y="2623542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r-Latn-B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Dijagrami slučajeva upotrebe</a:t>
            </a:r>
          </a:p>
          <a:p>
            <a:pPr algn="ctr"/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C4FB1E2-3315-40F7-BC3D-66EBF157C961}"/>
              </a:ext>
            </a:extLst>
          </p:cNvPr>
          <p:cNvSpPr/>
          <p:nvPr/>
        </p:nvSpPr>
        <p:spPr>
          <a:xfrm>
            <a:off x="4344430" y="2623542"/>
            <a:ext cx="1247856" cy="1192191"/>
          </a:xfrm>
          <a:prstGeom prst="ellipse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sr-Latn-B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2EE5AC-AEB8-459E-B22E-991E6CE89B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167" y="4608372"/>
            <a:ext cx="1866101" cy="1866101"/>
          </a:xfrm>
          <a:prstGeom prst="rect">
            <a:avLst/>
          </a:prstGeom>
        </p:spPr>
      </p:pic>
      <p:pic>
        <p:nvPicPr>
          <p:cNvPr id="17" name="Graphic 16" descr="Smart Phone with solid fill">
            <a:extLst>
              <a:ext uri="{FF2B5EF4-FFF2-40B4-BE49-F238E27FC236}">
                <a16:creationId xmlns:a16="http://schemas.microsoft.com/office/drawing/2014/main" id="{7523C920-5057-4F29-A193-9F0D943B5B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673" y="5678165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68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1120260">
            <a:off x="-4288492" y="-870479"/>
            <a:ext cx="8136466" cy="8178708"/>
          </a:xfrm>
          <a:prstGeom prst="blockArc">
            <a:avLst>
              <a:gd name="adj1" fmla="val 12508007"/>
              <a:gd name="adj2" fmla="val 14144622"/>
              <a:gd name="adj3" fmla="val 2661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2EE5AC-AEB8-459E-B22E-991E6CE89B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167" y="4608372"/>
            <a:ext cx="1866101" cy="1866101"/>
          </a:xfrm>
          <a:prstGeom prst="rect">
            <a:avLst/>
          </a:prstGeom>
        </p:spPr>
      </p:pic>
      <p:pic>
        <p:nvPicPr>
          <p:cNvPr id="17" name="Graphic 16" descr="Smart Phone with solid fill">
            <a:extLst>
              <a:ext uri="{FF2B5EF4-FFF2-40B4-BE49-F238E27FC236}">
                <a16:creationId xmlns:a16="http://schemas.microsoft.com/office/drawing/2014/main" id="{7523C920-5057-4F29-A193-9F0D943B5B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673" y="5678165"/>
            <a:ext cx="914399" cy="914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DDC62E-CC89-428A-9808-F0DF47B9880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10746" y="180585"/>
            <a:ext cx="7615022" cy="617206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1269141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1120260">
            <a:off x="-4288492" y="-870479"/>
            <a:ext cx="8136466" cy="8178708"/>
          </a:xfrm>
          <a:prstGeom prst="blockArc">
            <a:avLst>
              <a:gd name="adj1" fmla="val 12508007"/>
              <a:gd name="adj2" fmla="val 14144622"/>
              <a:gd name="adj3" fmla="val 2661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2EE5AC-AEB8-459E-B22E-991E6CE89B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167" y="4608372"/>
            <a:ext cx="1866101" cy="1866101"/>
          </a:xfrm>
          <a:prstGeom prst="rect">
            <a:avLst/>
          </a:prstGeom>
        </p:spPr>
      </p:pic>
      <p:pic>
        <p:nvPicPr>
          <p:cNvPr id="17" name="Graphic 16" descr="Smart Phone with solid fill">
            <a:extLst>
              <a:ext uri="{FF2B5EF4-FFF2-40B4-BE49-F238E27FC236}">
                <a16:creationId xmlns:a16="http://schemas.microsoft.com/office/drawing/2014/main" id="{7523C920-5057-4F29-A193-9F0D943B5B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673" y="5678165"/>
            <a:ext cx="914399" cy="914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F5CC67-8546-4BE3-9543-33279DB60B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5271" y="1335229"/>
            <a:ext cx="8350681" cy="438878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3420038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1120260">
            <a:off x="-4288492" y="-870479"/>
            <a:ext cx="8136466" cy="8178708"/>
          </a:xfrm>
          <a:prstGeom prst="blockArc">
            <a:avLst>
              <a:gd name="adj1" fmla="val 12508007"/>
              <a:gd name="adj2" fmla="val 14144622"/>
              <a:gd name="adj3" fmla="val 2661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2EE5AC-AEB8-459E-B22E-991E6CE89B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167" y="4608372"/>
            <a:ext cx="1866101" cy="1866101"/>
          </a:xfrm>
          <a:prstGeom prst="rect">
            <a:avLst/>
          </a:prstGeom>
        </p:spPr>
      </p:pic>
      <p:pic>
        <p:nvPicPr>
          <p:cNvPr id="17" name="Graphic 16" descr="Smart Phone with solid fill">
            <a:extLst>
              <a:ext uri="{FF2B5EF4-FFF2-40B4-BE49-F238E27FC236}">
                <a16:creationId xmlns:a16="http://schemas.microsoft.com/office/drawing/2014/main" id="{7523C920-5057-4F29-A193-9F0D943B5B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673" y="5678165"/>
            <a:ext cx="914399" cy="914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EFCC1-7553-4188-A3F1-10BBA9FD48F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57311" y="225761"/>
            <a:ext cx="7898964" cy="636680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100945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1120260">
            <a:off x="-4288492" y="-870479"/>
            <a:ext cx="8136466" cy="8178708"/>
          </a:xfrm>
          <a:prstGeom prst="blockArc">
            <a:avLst>
              <a:gd name="adj1" fmla="val 12508007"/>
              <a:gd name="adj2" fmla="val 14144622"/>
              <a:gd name="adj3" fmla="val 2661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2EE5AC-AEB8-459E-B22E-991E6CE89B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167" y="4608372"/>
            <a:ext cx="1866101" cy="1866101"/>
          </a:xfrm>
          <a:prstGeom prst="rect">
            <a:avLst/>
          </a:prstGeom>
        </p:spPr>
      </p:pic>
      <p:pic>
        <p:nvPicPr>
          <p:cNvPr id="17" name="Graphic 16" descr="Smart Phone with solid fill">
            <a:extLst>
              <a:ext uri="{FF2B5EF4-FFF2-40B4-BE49-F238E27FC236}">
                <a16:creationId xmlns:a16="http://schemas.microsoft.com/office/drawing/2014/main" id="{7523C920-5057-4F29-A193-9F0D943B5B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673" y="5678165"/>
            <a:ext cx="914399" cy="914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EA5BAB-4E7D-4225-AA01-946D6FAA09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3634" y="180985"/>
            <a:ext cx="8273956" cy="629348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80134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1120260">
            <a:off x="-4288492" y="-870479"/>
            <a:ext cx="8136466" cy="8178708"/>
          </a:xfrm>
          <a:prstGeom prst="blockArc">
            <a:avLst>
              <a:gd name="adj1" fmla="val 12508007"/>
              <a:gd name="adj2" fmla="val 14144622"/>
              <a:gd name="adj3" fmla="val 2661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2EE5AC-AEB8-459E-B22E-991E6CE89B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167" y="4608372"/>
            <a:ext cx="1866101" cy="1866101"/>
          </a:xfrm>
          <a:prstGeom prst="rect">
            <a:avLst/>
          </a:prstGeom>
        </p:spPr>
      </p:pic>
      <p:pic>
        <p:nvPicPr>
          <p:cNvPr id="17" name="Graphic 16" descr="Smart Phone with solid fill">
            <a:extLst>
              <a:ext uri="{FF2B5EF4-FFF2-40B4-BE49-F238E27FC236}">
                <a16:creationId xmlns:a16="http://schemas.microsoft.com/office/drawing/2014/main" id="{7523C920-5057-4F29-A193-9F0D943B5B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673" y="5678165"/>
            <a:ext cx="914399" cy="914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AA36C-A6FA-4BAC-AD15-B2A605E687B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0186" y="152461"/>
            <a:ext cx="7415249" cy="645971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1515958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1120260">
            <a:off x="-4288492" y="-870479"/>
            <a:ext cx="8136466" cy="8178708"/>
          </a:xfrm>
          <a:prstGeom prst="blockArc">
            <a:avLst>
              <a:gd name="adj1" fmla="val 12508007"/>
              <a:gd name="adj2" fmla="val 14144622"/>
              <a:gd name="adj3" fmla="val 26616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FC5720-F6F9-4CED-A1E5-40240646054A}"/>
              </a:ext>
            </a:extLst>
          </p:cNvPr>
          <p:cNvSpPr/>
          <p:nvPr/>
        </p:nvSpPr>
        <p:spPr>
          <a:xfrm>
            <a:off x="4121406" y="935674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Nefunkcionalni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zahtjevi</a:t>
            </a:r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C4FB1E2-3315-40F7-BC3D-66EBF157C961}"/>
              </a:ext>
            </a:extLst>
          </p:cNvPr>
          <p:cNvSpPr/>
          <p:nvPr/>
        </p:nvSpPr>
        <p:spPr>
          <a:xfrm>
            <a:off x="4113263" y="935674"/>
            <a:ext cx="1247856" cy="1192191"/>
          </a:xfrm>
          <a:prstGeom prst="ellipse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r-Latn-B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41485227-B812-4073-B2D8-F0E632CD622A}"/>
              </a:ext>
            </a:extLst>
          </p:cNvPr>
          <p:cNvSpPr/>
          <p:nvPr/>
        </p:nvSpPr>
        <p:spPr>
          <a:xfrm>
            <a:off x="8339517" y="4730134"/>
            <a:ext cx="2774175" cy="2004768"/>
          </a:xfrm>
          <a:prstGeom prst="flowChartAlternateProcess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IZGLED</a:t>
            </a:r>
            <a:endParaRPr lang="sr-Latn-B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Intuitivan i vizualno privlačan korisnički interfejs. </a:t>
            </a:r>
          </a:p>
          <a:p>
            <a:pPr algn="ctr"/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Jednostavan pristup ključnim funkcionalnostima.</a:t>
            </a:r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E0B4424C-3CAC-402E-ADEA-C4F1AE108305}"/>
              </a:ext>
            </a:extLst>
          </p:cNvPr>
          <p:cNvSpPr/>
          <p:nvPr/>
        </p:nvSpPr>
        <p:spPr>
          <a:xfrm>
            <a:off x="4522453" y="4675781"/>
            <a:ext cx="2774175" cy="2004768"/>
          </a:xfrm>
          <a:prstGeom prst="flowChartAlternateProcess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PERFORMANSE</a:t>
            </a:r>
            <a:endParaRPr lang="sr-Latn-B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Brzi odgovori na zahtjeve korisnika. </a:t>
            </a:r>
          </a:p>
          <a:p>
            <a:pPr algn="ctr"/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Maksimalno vrijeme odziva do 2 sekunde.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D6E023A6-B988-4295-8111-E1CCE8C7E312}"/>
              </a:ext>
            </a:extLst>
          </p:cNvPr>
          <p:cNvSpPr/>
          <p:nvPr/>
        </p:nvSpPr>
        <p:spPr>
          <a:xfrm>
            <a:off x="8339517" y="2431696"/>
            <a:ext cx="2774175" cy="2004768"/>
          </a:xfrm>
          <a:prstGeom prst="flowChartAlternateProcess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SIGURNOST</a:t>
            </a:r>
            <a:endParaRPr lang="sr-Latn-B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Zaštita osjetljivih podataka korisnika (lični podaci, planovi treninga, zdravstveni podaci) od neovlaštenog pristupa.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D4270C22-7B55-468C-A0B3-9E776646F136}"/>
              </a:ext>
            </a:extLst>
          </p:cNvPr>
          <p:cNvSpPr/>
          <p:nvPr/>
        </p:nvSpPr>
        <p:spPr>
          <a:xfrm>
            <a:off x="4476469" y="2426616"/>
            <a:ext cx="2774175" cy="2004768"/>
          </a:xfrm>
          <a:prstGeom prst="flowChartAlternateProcess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SKALABILNOST</a:t>
            </a:r>
            <a:endParaRPr lang="sr-Latn-B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r-Latn-B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 mora podržavati rastući broj korisnika (trenera i klijenata) bez smanjenja performansi</a:t>
            </a:r>
            <a:r>
              <a:rPr lang="sr-Latn-BA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sr-Latn-BA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9E1E422-C4FC-4E77-97DC-F8339D8BEB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167" y="4608372"/>
            <a:ext cx="1866101" cy="1866101"/>
          </a:xfrm>
          <a:prstGeom prst="rect">
            <a:avLst/>
          </a:prstGeom>
        </p:spPr>
      </p:pic>
      <p:pic>
        <p:nvPicPr>
          <p:cNvPr id="22" name="Graphic 21" descr="Smart Phone with solid fill">
            <a:extLst>
              <a:ext uri="{FF2B5EF4-FFF2-40B4-BE49-F238E27FC236}">
                <a16:creationId xmlns:a16="http://schemas.microsoft.com/office/drawing/2014/main" id="{33EEF5DE-18BF-4603-9428-6F96D1B3D4E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768" y="5678165"/>
            <a:ext cx="914399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49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BAB201-1E1D-4C4A-A4F5-5B46D1AEE5CB}"/>
              </a:ext>
            </a:extLst>
          </p:cNvPr>
          <p:cNvSpPr/>
          <p:nvPr/>
        </p:nvSpPr>
        <p:spPr>
          <a:xfrm>
            <a:off x="4336543" y="2514600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Prototip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scenarij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upotrebe</a:t>
            </a:r>
            <a:endParaRPr lang="sr-Latn-B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35FDE3C-42A1-46D7-B21C-84265B3FC612}"/>
              </a:ext>
            </a:extLst>
          </p:cNvPr>
          <p:cNvSpPr/>
          <p:nvPr/>
        </p:nvSpPr>
        <p:spPr>
          <a:xfrm>
            <a:off x="4302625" y="2514601"/>
            <a:ext cx="1247856" cy="1192191"/>
          </a:xfrm>
          <a:prstGeom prst="ellipse">
            <a:avLst/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r-Latn-B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42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919F28-F388-4D4D-BC48-3590978AD51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4735" y="135272"/>
            <a:ext cx="2835443" cy="6156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64B467-A184-4D92-90E6-341E12CD35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9611" y="116275"/>
            <a:ext cx="2835442" cy="6156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CD7D69-B0BD-45DC-A0D3-E4923B017C3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74486" y="135272"/>
            <a:ext cx="2835442" cy="615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067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95DAC7-B9A7-4C4E-A839-ECE38BB76B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56487" y="204675"/>
            <a:ext cx="2969773" cy="64486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70982BE-DC61-4FA3-9E38-2B5F80C74F2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8246" y="204674"/>
            <a:ext cx="2969773" cy="64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24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EA02A1-C029-4E9D-B87C-84FF3EF96A1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16380" y="19437"/>
            <a:ext cx="3080101" cy="6688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0509E9-AD7D-4BC0-A10F-815D0AA35F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08184" y="19438"/>
            <a:ext cx="3080100" cy="668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793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1D74A3-5440-44C8-BE5E-5D5C662797F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9908" y="167640"/>
            <a:ext cx="2663950" cy="57845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A4AFAA3-97D1-4E72-AA50-1F68227496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73692" y="167640"/>
            <a:ext cx="2663951" cy="5784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089AED-68BC-413A-B535-832191BD00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12040" y="167640"/>
            <a:ext cx="2663951" cy="578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72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E7D9BD-3C91-42E8-A7B7-5071924398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14943" y="108516"/>
            <a:ext cx="2793331" cy="6065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2BD05C-3E35-49B6-81BB-E7A8296F17F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60382" y="116086"/>
            <a:ext cx="2789845" cy="6057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49C4D1-AE7C-4674-BEF3-62919793F25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2909" y="123656"/>
            <a:ext cx="2789846" cy="60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88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3BCABC-2E8C-4956-9B07-B2F07E15E29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2167" y="197016"/>
            <a:ext cx="2711649" cy="58881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6E36AF-5C4C-4E23-9B99-0484E3A212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12976" y="197016"/>
            <a:ext cx="2711649" cy="5888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61E5B6-7D65-4076-B4B2-D3BFC4338DF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2695" y="197016"/>
            <a:ext cx="2711650" cy="588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09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F5249F-B0F7-4C88-92BF-597D88D7CCC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7043" y="215196"/>
            <a:ext cx="2744202" cy="5958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6B2060-66AB-4B96-B521-98008A252D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76" y="215196"/>
            <a:ext cx="2744202" cy="5958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528869-3D60-4114-8D17-E7FC2D0275D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5021" y="215194"/>
            <a:ext cx="2744203" cy="595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66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8D11E3-7EF0-448C-9CC3-BB95BD94CC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4818" y="213360"/>
            <a:ext cx="2748554" cy="59682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BADEA8-C543-4722-AEB1-B8EA6CACDA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8106" y="213360"/>
            <a:ext cx="2750398" cy="59722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6D4CBC-FD43-44F0-ABD1-A82E08935A8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12976" y="213360"/>
            <a:ext cx="2750397" cy="597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368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020E94-CE06-448C-9E68-17527A5280A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41253" y="226872"/>
            <a:ext cx="2783649" cy="60444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4D2AA6-72E7-4763-A0FF-A00554C154D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78181" y="226872"/>
            <a:ext cx="2783649" cy="6044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CE796D-0E0D-4440-B005-B50DCFE1489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6039" y="226872"/>
            <a:ext cx="2783649" cy="604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09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410CD7-F5EB-4959-A9E6-E6C8D401A0C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7797" y="64351"/>
            <a:ext cx="2578995" cy="5600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0E7B87-08D8-48CE-9895-BA0D7B3A7FB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67551" y="87796"/>
            <a:ext cx="2578996" cy="5600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68C3E4-EB73-4C17-9D4B-276A4E88F1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12976" y="64351"/>
            <a:ext cx="2578995" cy="560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7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CC6F97-8F81-4EAE-B0DE-37020DEA50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11791" y="61073"/>
            <a:ext cx="3107661" cy="67480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92232C-8F22-4A04-9615-CD02CE752B2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14302" y="61073"/>
            <a:ext cx="3161124" cy="673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52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9D6244-0D40-4159-A278-89C4157EC5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7538" y="177108"/>
            <a:ext cx="2983106" cy="64776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828BF0-9B21-4F3A-8C48-FAA1612004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0299" y="190198"/>
            <a:ext cx="2983106" cy="647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38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A91250-5217-4250-B919-BFA9CAE6004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1895" y="148074"/>
            <a:ext cx="2993362" cy="6503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F8181D-D542-4F82-97F2-4D8E3561932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58959" y="162678"/>
            <a:ext cx="2988277" cy="648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26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4A3F86-DD6B-4AF3-BB75-C0241CBCACF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36103" y="152352"/>
            <a:ext cx="2775872" cy="60276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14248F1-2E0E-4D95-A4D1-A9A24815A9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5631" y="146427"/>
            <a:ext cx="2775872" cy="6027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85FD62-DE41-4318-96A5-6F7E5BC9494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42863" y="146427"/>
            <a:ext cx="2775872" cy="602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07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FEE98D-7AAF-4209-9EAD-E641FD91DBF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8347" y="101729"/>
            <a:ext cx="2823437" cy="60162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1128B6-9DF1-46F0-AE28-E26B2DC5D4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718" y="101729"/>
            <a:ext cx="2770661" cy="60162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AB0C3F-F554-4CC1-A975-82694F3D2B5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14313" y="101729"/>
            <a:ext cx="2783973" cy="601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91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BA9727-3004-4777-8D22-8A892EB40E6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36103" y="174453"/>
            <a:ext cx="2762965" cy="5999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AA02B2-4EC5-46B5-AF9D-695BC2BF52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5090" y="174453"/>
            <a:ext cx="2762965" cy="5999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30B77F-753A-43CD-84F8-4B91BFD7463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84558" y="174453"/>
            <a:ext cx="2762965" cy="599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63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E486F-3D38-4F69-8BB8-C0CD06C8CB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45237" y="4608372"/>
            <a:ext cx="1565664" cy="15656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5BF58A-3E7F-4C95-9104-563FD694521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3619" y="95894"/>
            <a:ext cx="2825179" cy="6134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88AC2D-0788-45BB-8167-19C76E74905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07537" y="112828"/>
            <a:ext cx="2825179" cy="613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59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EC4B2D12-9713-4876-8FF6-D55182EE0CD9}"/>
              </a:ext>
            </a:extLst>
          </p:cNvPr>
          <p:cNvSpPr/>
          <p:nvPr/>
        </p:nvSpPr>
        <p:spPr>
          <a:xfrm>
            <a:off x="-3478193" y="0"/>
            <a:ext cx="6956386" cy="6858000"/>
          </a:xfrm>
          <a:prstGeom prst="donut">
            <a:avLst>
              <a:gd name="adj" fmla="val 24485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0D02F5CF-EAE8-4D33-91E5-F1C8AD6AF535}"/>
              </a:ext>
            </a:extLst>
          </p:cNvPr>
          <p:cNvSpPr/>
          <p:nvPr/>
        </p:nvSpPr>
        <p:spPr>
          <a:xfrm rot="12607412">
            <a:off x="-4183421" y="-849962"/>
            <a:ext cx="8107635" cy="7767744"/>
          </a:xfrm>
          <a:prstGeom prst="blockArc">
            <a:avLst>
              <a:gd name="adj1" fmla="val 12508007"/>
              <a:gd name="adj2" fmla="val 14129503"/>
              <a:gd name="adj3" fmla="val 25430"/>
            </a:avLst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>
              <a:solidFill>
                <a:schemeClr val="tx1"/>
              </a:solidFill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67B174B6-4D2D-4FFA-8257-0CFD0E44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72" y="511434"/>
            <a:ext cx="914400" cy="914400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77A4C97-7D66-427E-B8FC-B38D05238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599" y="3815734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650C61F9-EB99-4BE0-AE28-D46EA70A5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7472" y="2514600"/>
            <a:ext cx="914400" cy="914400"/>
          </a:xfrm>
          <a:prstGeom prst="rect">
            <a:avLst/>
          </a:prstGeom>
        </p:spPr>
      </p:pic>
      <p:pic>
        <p:nvPicPr>
          <p:cNvPr id="20" name="Graphic 19" descr="Questions with solid fill">
            <a:extLst>
              <a:ext uri="{FF2B5EF4-FFF2-40B4-BE49-F238E27FC236}">
                <a16:creationId xmlns:a16="http://schemas.microsoft.com/office/drawing/2014/main" id="{BC15D349-C507-4906-9BE2-5A524134C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6332" y="1335229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with solid fill">
            <a:extLst>
              <a:ext uri="{FF2B5EF4-FFF2-40B4-BE49-F238E27FC236}">
                <a16:creationId xmlns:a16="http://schemas.microsoft.com/office/drawing/2014/main" id="{0D0F8DA2-316F-4362-9F7D-7A304C00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928" y="5509258"/>
            <a:ext cx="914399" cy="914399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BAB201-1E1D-4C4A-A4F5-5B46D1AEE5CB}"/>
              </a:ext>
            </a:extLst>
          </p:cNvPr>
          <p:cNvSpPr/>
          <p:nvPr/>
        </p:nvSpPr>
        <p:spPr>
          <a:xfrm>
            <a:off x="4100168" y="2514600"/>
            <a:ext cx="7257365" cy="1192192"/>
          </a:xfrm>
          <a:prstGeom prst="roundRect">
            <a:avLst>
              <a:gd name="adj" fmla="val 50000"/>
            </a:avLst>
          </a:prstGeom>
          <a:solidFill>
            <a:srgbClr val="99F767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Hvala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</a:t>
            </a:r>
            <a:r>
              <a:rPr lang="sr-Latn-B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žnji!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3E5F5A-C3BE-4D88-B98F-7EC5D3409C9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8223" y1="42676" x2="28223" y2="42676"/>
                        <a14:foregroundMark x1="49414" y1="23535" x2="49414" y2="23535"/>
                        <a14:foregroundMark x1="75000" y1="41211" x2="75000" y2="41211"/>
                        <a14:foregroundMark x1="61816" y1="50488" x2="61816" y2="50488"/>
                        <a14:foregroundMark x1="63184" y1="52344" x2="63184" y2="52344"/>
                        <a14:foregroundMark x1="58887" y1="51270" x2="58887" y2="51270"/>
                        <a14:foregroundMark x1="59375" y1="53320" x2="59375" y2="53320"/>
                        <a14:foregroundMark x1="59473" y1="53613" x2="59473" y2="53613"/>
                        <a14:foregroundMark x1="38574" y1="52344" x2="38574" y2="52344"/>
                        <a14:foregroundMark x1="48535" y1="60938" x2="48535" y2="60938"/>
                        <a14:foregroundMark x1="48633" y1="24121" x2="48633" y2="24121"/>
                        <a14:foregroundMark x1="50293" y1="24316" x2="50293" y2="24316"/>
                        <a14:foregroundMark x1="50293" y1="24316" x2="50293" y2="24316"/>
                        <a14:foregroundMark x1="50293" y1="24316" x2="50293" y2="25293"/>
                        <a14:foregroundMark x1="19922" y1="41211" x2="24512" y2="42383"/>
                        <a14:foregroundMark x1="28516" y1="36426" x2="32324" y2="41016"/>
                        <a14:foregroundMark x1="34863" y1="36133" x2="38477" y2="34668"/>
                        <a14:foregroundMark x1="64844" y1="35254" x2="60547" y2="32422"/>
                        <a14:foregroundMark x1="55176" y1="22363" x2="52637" y2="20117"/>
                        <a14:foregroundMark x1="72070" y1="48438" x2="68945" y2="45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331794" y="4681053"/>
            <a:ext cx="1565664" cy="156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40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17400</TotalTime>
  <Words>439</Words>
  <Application>Microsoft Office PowerPoint</Application>
  <PresentationFormat>Widescreen</PresentationFormat>
  <Paragraphs>78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Korisnik</dc:creator>
  <cp:lastModifiedBy>Korisnik</cp:lastModifiedBy>
  <cp:revision>105</cp:revision>
  <dcterms:created xsi:type="dcterms:W3CDTF">2026-03-23T17:48:33Z</dcterms:created>
  <dcterms:modified xsi:type="dcterms:W3CDTF">2026-04-17T20:37:09Z</dcterms:modified>
</cp:coreProperties>
</file>