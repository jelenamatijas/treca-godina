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7" r:id="rId1"/>
  </p:sldMasterIdLst>
  <p:notesMasterIdLst>
    <p:notesMasterId r:id="rId14"/>
  </p:notesMasterIdLst>
  <p:sldIdLst>
    <p:sldId id="256" r:id="rId2"/>
    <p:sldId id="266" r:id="rId3"/>
    <p:sldId id="257" r:id="rId4"/>
    <p:sldId id="258" r:id="rId5"/>
    <p:sldId id="259" r:id="rId6"/>
    <p:sldId id="260" r:id="rId7"/>
    <p:sldId id="261" r:id="rId8"/>
    <p:sldId id="262" r:id="rId9"/>
    <p:sldId id="263" r:id="rId10"/>
    <p:sldId id="267"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M" initials="J" lastIdx="1" clrIdx="0">
    <p:extLst>
      <p:ext uri="{19B8F6BF-5375-455C-9EA6-DF929625EA0E}">
        <p15:presenceInfo xmlns:p15="http://schemas.microsoft.com/office/powerpoint/2012/main" userId="J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54"/>
      </p:cViewPr>
      <p:guideLst/>
    </p:cSldViewPr>
  </p:slideViewPr>
  <p:notesTextViewPr>
    <p:cViewPr>
      <p:scale>
        <a:sx n="1" d="1"/>
        <a:sy n="1" d="1"/>
      </p:scale>
      <p:origin x="0" y="-1411"/>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B4B701-0AAC-4522-B64E-28E281FB6059}"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61D47-AF5A-4437-8450-CCA074A77B60}" type="slidenum">
              <a:rPr lang="en-US" smtClean="0"/>
              <a:t>‹#›</a:t>
            </a:fld>
            <a:endParaRPr lang="en-US"/>
          </a:p>
        </p:txBody>
      </p:sp>
    </p:spTree>
    <p:extLst>
      <p:ext uri="{BB962C8B-B14F-4D97-AF65-F5344CB8AC3E}">
        <p14:creationId xmlns:p14="http://schemas.microsoft.com/office/powerpoint/2010/main" val="1482340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kernel is a computer program that serves as the core of the operating system, with complete control over everything in the system. It is one of the first programs loaded during startup. The kernel manages the rest of the boot process as well as input/output requests from software, converting them into data-processing instructions for the CPU. It manages memory and peripheral devices such as the keyboard, monitor, printer, etc.</a:t>
            </a:r>
          </a:p>
          <a:p>
            <a:endParaRPr lang="en-US" dirty="0"/>
          </a:p>
          <a:p>
            <a:r>
              <a:rPr lang="en-US" dirty="0"/>
              <a:t>The critical kernel code is usually loaded into a separate memory area that is protected from access by application software or other less critical parts of the operating system. The kernel performs tasks such as process management, hardware device management (HDD, network adapters…), and handling interrupts inside a protected space. Accordingly, everything the user does is executed in user space. This separation prevents user and kernel data from mixing and stops faulty or malicious application programs from crashing the entire operating system. When a process requires a service from the kernel, this is called a system call. </a:t>
            </a:r>
            <a:r>
              <a:rPr lang="en-US"/>
              <a:t>The primary function of the kernel is to act as a bond between the user and computer resources—that is, managing the CPU, memory, and devices.</a:t>
            </a:r>
            <a:endParaRPr lang="en-US" dirty="0"/>
          </a:p>
        </p:txBody>
      </p:sp>
      <p:sp>
        <p:nvSpPr>
          <p:cNvPr id="4" name="Slide Number Placeholder 3"/>
          <p:cNvSpPr>
            <a:spLocks noGrp="1"/>
          </p:cNvSpPr>
          <p:nvPr>
            <p:ph type="sldNum" sz="quarter" idx="5"/>
          </p:nvPr>
        </p:nvSpPr>
        <p:spPr/>
        <p:txBody>
          <a:bodyPr/>
          <a:lstStyle/>
          <a:p>
            <a:fld id="{20261D47-AF5A-4437-8450-CCA074A77B60}" type="slidenum">
              <a:rPr lang="en-US" smtClean="0"/>
              <a:t>3</a:t>
            </a:fld>
            <a:endParaRPr lang="en-US"/>
          </a:p>
        </p:txBody>
      </p:sp>
    </p:spTree>
    <p:extLst>
      <p:ext uri="{BB962C8B-B14F-4D97-AF65-F5344CB8AC3E}">
        <p14:creationId xmlns:p14="http://schemas.microsoft.com/office/powerpoint/2010/main" val="1089879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12/9/2025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47009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31118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34590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12/9/2025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49966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12/9/2025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44155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12/9/2025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63754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12/9/2025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71294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12/9/2025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88969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12/9/2025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17102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BC1C18-307B-4F68-A007-B5B542270E8D}" type="datetimeFigureOut">
              <a:rPr lang="en-US" smtClean="0"/>
              <a:t>12/9/2025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72163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691787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8699663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2856560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2313488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2221337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1491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12/9/2025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9800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CBC1C18-307B-4F68-A007-B5B542270E8D}" type="datetimeFigureOut">
              <a:rPr lang="en-US" smtClean="0"/>
              <a:t>12/9/2025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
              </a:t>
            </a:r>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22400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8B2B-4A61-42A1-98EC-E0AEDE5AAC32}"/>
              </a:ext>
            </a:extLst>
          </p:cNvPr>
          <p:cNvSpPr>
            <a:spLocks noGrp="1"/>
          </p:cNvSpPr>
          <p:nvPr>
            <p:ph type="ctrTitle"/>
          </p:nvPr>
        </p:nvSpPr>
        <p:spPr>
          <a:xfrm>
            <a:off x="1855694" y="1241610"/>
            <a:ext cx="9986681" cy="2268559"/>
          </a:xfrm>
        </p:spPr>
        <p:txBody>
          <a:bodyPr>
            <a:normAutofit/>
          </a:bodyPr>
          <a:lstStyle/>
          <a:p>
            <a:pPr algn="ctr"/>
            <a:r>
              <a:rPr lang="en-US" b="0" i="0" dirty="0">
                <a:effectLst/>
                <a:latin typeface="Arial" panose="020B0604020202020204" pitchFamily="34" charset="0"/>
              </a:rPr>
              <a:t>Types of kernels in operating systems</a:t>
            </a:r>
            <a:endParaRPr lang="en-US" dirty="0"/>
          </a:p>
        </p:txBody>
      </p:sp>
      <p:sp>
        <p:nvSpPr>
          <p:cNvPr id="3" name="Subtitle 2">
            <a:extLst>
              <a:ext uri="{FF2B5EF4-FFF2-40B4-BE49-F238E27FC236}">
                <a16:creationId xmlns:a16="http://schemas.microsoft.com/office/drawing/2014/main" id="{1BDC7A81-E2F5-4405-8BD4-93C7C0B2B04D}"/>
              </a:ext>
            </a:extLst>
          </p:cNvPr>
          <p:cNvSpPr>
            <a:spLocks noGrp="1"/>
          </p:cNvSpPr>
          <p:nvPr>
            <p:ph type="subTitle" idx="1"/>
          </p:nvPr>
        </p:nvSpPr>
        <p:spPr>
          <a:xfrm>
            <a:off x="7073152" y="3626710"/>
            <a:ext cx="4625789" cy="580106"/>
          </a:xfrm>
        </p:spPr>
        <p:txBody>
          <a:bodyPr>
            <a:normAutofit/>
          </a:bodyPr>
          <a:lstStyle/>
          <a:p>
            <a:pPr algn="ctr"/>
            <a:r>
              <a:rPr lang="sr-Latn-RS" dirty="0"/>
              <a:t>Jelena Matijaš 1102/23</a:t>
            </a:r>
            <a:endParaRPr lang="en-US" dirty="0"/>
          </a:p>
        </p:txBody>
      </p:sp>
    </p:spTree>
    <p:extLst>
      <p:ext uri="{BB962C8B-B14F-4D97-AF65-F5344CB8AC3E}">
        <p14:creationId xmlns:p14="http://schemas.microsoft.com/office/powerpoint/2010/main" val="36884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C84B9-37F3-42CE-975E-F6BAA7BF29D4}"/>
              </a:ext>
            </a:extLst>
          </p:cNvPr>
          <p:cNvSpPr>
            <a:spLocks noGrp="1"/>
          </p:cNvSpPr>
          <p:nvPr>
            <p:ph type="title"/>
          </p:nvPr>
        </p:nvSpPr>
        <p:spPr>
          <a:xfrm>
            <a:off x="1484311" y="685800"/>
            <a:ext cx="10018713" cy="999565"/>
          </a:xfrm>
        </p:spPr>
        <p:txBody>
          <a:bodyPr/>
          <a:lstStyle/>
          <a:p>
            <a:r>
              <a:rPr lang="en-US" dirty="0"/>
              <a:t>Contents:</a:t>
            </a:r>
          </a:p>
        </p:txBody>
      </p:sp>
      <p:sp>
        <p:nvSpPr>
          <p:cNvPr id="3" name="Content Placeholder 2">
            <a:extLst>
              <a:ext uri="{FF2B5EF4-FFF2-40B4-BE49-F238E27FC236}">
                <a16:creationId xmlns:a16="http://schemas.microsoft.com/office/drawing/2014/main" id="{DFCFE5E1-896D-4E4A-A56A-6D10823EADBC}"/>
              </a:ext>
            </a:extLst>
          </p:cNvPr>
          <p:cNvSpPr>
            <a:spLocks noGrp="1"/>
          </p:cNvSpPr>
          <p:nvPr>
            <p:ph idx="1"/>
          </p:nvPr>
        </p:nvSpPr>
        <p:spPr>
          <a:xfrm>
            <a:off x="2465294" y="1990164"/>
            <a:ext cx="3630706" cy="3657600"/>
          </a:xfrm>
        </p:spPr>
        <p:txBody>
          <a:bodyPr>
            <a:normAutofit/>
          </a:bodyPr>
          <a:lstStyle/>
          <a:p>
            <a:r>
              <a:rPr lang="en-US" dirty="0"/>
              <a:t>About kernel</a:t>
            </a:r>
          </a:p>
          <a:p>
            <a:r>
              <a:rPr lang="en-US" dirty="0"/>
              <a:t>Types of kernel</a:t>
            </a:r>
          </a:p>
          <a:p>
            <a:r>
              <a:rPr lang="en-US" dirty="0"/>
              <a:t>Monolithic kernel</a:t>
            </a:r>
          </a:p>
          <a:p>
            <a:r>
              <a:rPr lang="en-US" dirty="0"/>
              <a:t>Microkernel</a:t>
            </a:r>
          </a:p>
          <a:p>
            <a:endParaRPr lang="en-US" dirty="0"/>
          </a:p>
        </p:txBody>
      </p:sp>
      <p:sp>
        <p:nvSpPr>
          <p:cNvPr id="5" name="TextBox 4">
            <a:extLst>
              <a:ext uri="{FF2B5EF4-FFF2-40B4-BE49-F238E27FC236}">
                <a16:creationId xmlns:a16="http://schemas.microsoft.com/office/drawing/2014/main" id="{FF0601A9-F4CC-4A4A-B3F6-9C3F6C76AA12}"/>
              </a:ext>
            </a:extLst>
          </p:cNvPr>
          <p:cNvSpPr txBox="1"/>
          <p:nvPr/>
        </p:nvSpPr>
        <p:spPr>
          <a:xfrm>
            <a:off x="7377953" y="1990164"/>
            <a:ext cx="3720352" cy="3657600"/>
          </a:xfrm>
          <a:prstGeom prst="rect">
            <a:avLst/>
          </a:prstGeom>
          <a:noFill/>
        </p:spPr>
        <p:txBody>
          <a:bodyPr wrap="square" rtlCol="0">
            <a:spAutoFit/>
          </a:bodyPr>
          <a:lstStyle/>
          <a:p>
            <a:pPr marL="285750" indent="-285750">
              <a:spcBef>
                <a:spcPct val="20000"/>
              </a:spcBef>
              <a:spcAft>
                <a:spcPts val="600"/>
              </a:spcAft>
              <a:buClr>
                <a:schemeClr val="accent1">
                  <a:lumMod val="75000"/>
                </a:schemeClr>
              </a:buClr>
              <a:buSzPct val="145000"/>
              <a:buFont typeface="Arial"/>
              <a:buChar char="•"/>
            </a:pPr>
            <a:endParaRPr lang="en-US" sz="2400" dirty="0"/>
          </a:p>
          <a:p>
            <a:pPr marL="285750" indent="-285750">
              <a:spcBef>
                <a:spcPct val="20000"/>
              </a:spcBef>
              <a:spcAft>
                <a:spcPts val="600"/>
              </a:spcAft>
              <a:buClr>
                <a:schemeClr val="accent1">
                  <a:lumMod val="75000"/>
                </a:schemeClr>
              </a:buClr>
              <a:buSzPct val="145000"/>
              <a:buFont typeface="Arial"/>
              <a:buChar char="•"/>
            </a:pPr>
            <a:r>
              <a:rPr lang="en-US" sz="2400" dirty="0"/>
              <a:t>Hybrid kernel</a:t>
            </a:r>
          </a:p>
          <a:p>
            <a:pPr marL="285750" indent="-285750">
              <a:spcBef>
                <a:spcPct val="20000"/>
              </a:spcBef>
              <a:spcAft>
                <a:spcPts val="600"/>
              </a:spcAft>
              <a:buClr>
                <a:schemeClr val="accent1">
                  <a:lumMod val="75000"/>
                </a:schemeClr>
              </a:buClr>
              <a:buSzPct val="145000"/>
              <a:buFont typeface="Arial"/>
              <a:buChar char="•"/>
            </a:pPr>
            <a:r>
              <a:rPr lang="en-US" sz="2400" dirty="0"/>
              <a:t>Nanokernel</a:t>
            </a:r>
          </a:p>
          <a:p>
            <a:pPr marL="285750" indent="-285750">
              <a:spcBef>
                <a:spcPct val="20000"/>
              </a:spcBef>
              <a:spcAft>
                <a:spcPts val="600"/>
              </a:spcAft>
              <a:buClr>
                <a:schemeClr val="accent1">
                  <a:lumMod val="75000"/>
                </a:schemeClr>
              </a:buClr>
              <a:buSzPct val="145000"/>
              <a:buFont typeface="Arial"/>
              <a:buChar char="•"/>
            </a:pPr>
            <a:r>
              <a:rPr lang="en-US" sz="2400" dirty="0"/>
              <a:t>Exokernel</a:t>
            </a:r>
          </a:p>
          <a:p>
            <a:pPr marL="285750" indent="-285750">
              <a:spcBef>
                <a:spcPct val="20000"/>
              </a:spcBef>
              <a:spcAft>
                <a:spcPts val="600"/>
              </a:spcAft>
              <a:buClr>
                <a:schemeClr val="accent1">
                  <a:lumMod val="75000"/>
                </a:schemeClr>
              </a:buClr>
              <a:buSzPct val="145000"/>
              <a:buFont typeface="Arial"/>
              <a:buChar char="•"/>
            </a:pPr>
            <a:r>
              <a:rPr lang="en-US" sz="2400" dirty="0"/>
              <a:t>Summary and conclusion</a:t>
            </a:r>
          </a:p>
          <a:p>
            <a:endParaRPr lang="en-US" dirty="0"/>
          </a:p>
        </p:txBody>
      </p:sp>
    </p:spTree>
    <p:extLst>
      <p:ext uri="{BB962C8B-B14F-4D97-AF65-F5344CB8AC3E}">
        <p14:creationId xmlns:p14="http://schemas.microsoft.com/office/powerpoint/2010/main" val="1029427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74843-C89C-48A3-8A00-69F5BE4AEBD5}"/>
              </a:ext>
            </a:extLst>
          </p:cNvPr>
          <p:cNvSpPr>
            <a:spLocks noGrp="1"/>
          </p:cNvSpPr>
          <p:nvPr>
            <p:ph type="title"/>
          </p:nvPr>
        </p:nvSpPr>
        <p:spPr>
          <a:xfrm>
            <a:off x="1375428" y="134923"/>
            <a:ext cx="10018713" cy="1752599"/>
          </a:xfrm>
        </p:spPr>
        <p:txBody>
          <a:bodyPr/>
          <a:lstStyle/>
          <a:p>
            <a:pPr algn="ctr"/>
            <a:r>
              <a:rPr lang="en-US" dirty="0"/>
              <a:t>What is a kernel?</a:t>
            </a:r>
          </a:p>
        </p:txBody>
      </p:sp>
      <p:pic>
        <p:nvPicPr>
          <p:cNvPr id="1026" name="Picture 2" descr="What is Kernel in Operating Systems? [Functions &amp; Modes]">
            <a:extLst>
              <a:ext uri="{FF2B5EF4-FFF2-40B4-BE49-F238E27FC236}">
                <a16:creationId xmlns:a16="http://schemas.microsoft.com/office/drawing/2014/main" id="{C4940803-1DDA-481A-B065-177088DAB79B}"/>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631143" y="1887522"/>
            <a:ext cx="3397320" cy="399732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C9D603B0-5E74-4C67-9E68-B00092BAB855}"/>
              </a:ext>
            </a:extLst>
          </p:cNvPr>
          <p:cNvSpPr>
            <a:spLocks noGrp="1"/>
          </p:cNvSpPr>
          <p:nvPr>
            <p:ph sz="half" idx="2"/>
          </p:nvPr>
        </p:nvSpPr>
        <p:spPr>
          <a:xfrm>
            <a:off x="5284177" y="1524000"/>
            <a:ext cx="6791281" cy="4576935"/>
          </a:xfrm>
        </p:spPr>
        <p:txBody>
          <a:bodyPr>
            <a:normAutofit/>
          </a:bodyPr>
          <a:lstStyle/>
          <a:p>
            <a:r>
              <a:rPr lang="en-US" sz="2400" b="1" dirty="0"/>
              <a:t>Core of the operating system, with complete control over everything in the system</a:t>
            </a:r>
          </a:p>
          <a:p>
            <a:r>
              <a:rPr lang="en-US" sz="2400" dirty="0"/>
              <a:t>One of the first programs loaded</a:t>
            </a:r>
          </a:p>
          <a:p>
            <a:r>
              <a:rPr lang="en-US" sz="2400" dirty="0"/>
              <a:t>Manages input/output requests from software and memory</a:t>
            </a:r>
          </a:p>
          <a:p>
            <a:r>
              <a:rPr lang="en-US" sz="2400" dirty="0"/>
              <a:t>Process management, hardware device management…</a:t>
            </a:r>
          </a:p>
        </p:txBody>
      </p:sp>
    </p:spTree>
    <p:extLst>
      <p:ext uri="{BB962C8B-B14F-4D97-AF65-F5344CB8AC3E}">
        <p14:creationId xmlns:p14="http://schemas.microsoft.com/office/powerpoint/2010/main" val="688481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E21B-FECB-4288-974C-E9D5308C9621}"/>
              </a:ext>
            </a:extLst>
          </p:cNvPr>
          <p:cNvSpPr>
            <a:spLocks noGrp="1"/>
          </p:cNvSpPr>
          <p:nvPr>
            <p:ph type="title"/>
          </p:nvPr>
        </p:nvSpPr>
        <p:spPr>
          <a:xfrm>
            <a:off x="1484309" y="190500"/>
            <a:ext cx="10018713" cy="1752599"/>
          </a:xfrm>
        </p:spPr>
        <p:txBody>
          <a:bodyPr/>
          <a:lstStyle/>
          <a:p>
            <a:pPr algn="ctr"/>
            <a:r>
              <a:rPr lang="en-US" dirty="0"/>
              <a:t>Types of kernel</a:t>
            </a:r>
          </a:p>
        </p:txBody>
      </p:sp>
      <p:sp>
        <p:nvSpPr>
          <p:cNvPr id="3" name="Content Placeholder 2">
            <a:extLst>
              <a:ext uri="{FF2B5EF4-FFF2-40B4-BE49-F238E27FC236}">
                <a16:creationId xmlns:a16="http://schemas.microsoft.com/office/drawing/2014/main" id="{F0700FF4-584B-46DC-8899-4BB7FFBBC3A3}"/>
              </a:ext>
            </a:extLst>
          </p:cNvPr>
          <p:cNvSpPr>
            <a:spLocks noGrp="1"/>
          </p:cNvSpPr>
          <p:nvPr>
            <p:ph idx="1"/>
          </p:nvPr>
        </p:nvSpPr>
        <p:spPr>
          <a:xfrm>
            <a:off x="1901405" y="1929061"/>
            <a:ext cx="7098216" cy="3848101"/>
          </a:xfrm>
        </p:spPr>
        <p:txBody>
          <a:bodyPr>
            <a:normAutofit/>
          </a:bodyPr>
          <a:lstStyle/>
          <a:p>
            <a:pPr marL="457200" indent="-457200">
              <a:buFont typeface="+mj-lt"/>
              <a:buAutoNum type="arabicPeriod"/>
            </a:pPr>
            <a:r>
              <a:rPr lang="en-US" sz="2400" b="1" dirty="0"/>
              <a:t>Monolithic kernel</a:t>
            </a:r>
          </a:p>
          <a:p>
            <a:pPr marL="457200" indent="-457200">
              <a:buFont typeface="+mj-lt"/>
              <a:buAutoNum type="arabicPeriod"/>
            </a:pPr>
            <a:r>
              <a:rPr lang="en-US" sz="2400" b="1" dirty="0"/>
              <a:t>Microkernel</a:t>
            </a:r>
          </a:p>
          <a:p>
            <a:pPr marL="457200" indent="-457200">
              <a:buFont typeface="+mj-lt"/>
              <a:buAutoNum type="arabicPeriod"/>
            </a:pPr>
            <a:r>
              <a:rPr lang="en-US" sz="2400" b="1" dirty="0"/>
              <a:t>Hybrid (modular) kernel</a:t>
            </a:r>
          </a:p>
          <a:p>
            <a:pPr marL="457200" indent="-457200">
              <a:buFont typeface="+mj-lt"/>
              <a:buAutoNum type="arabicPeriod"/>
            </a:pPr>
            <a:r>
              <a:rPr lang="en-US" sz="2400" b="1" dirty="0"/>
              <a:t>Nanokernel</a:t>
            </a:r>
          </a:p>
          <a:p>
            <a:pPr marL="457200" indent="-457200">
              <a:buFont typeface="+mj-lt"/>
              <a:buAutoNum type="arabicPeriod"/>
            </a:pPr>
            <a:r>
              <a:rPr lang="en-US" sz="2400" b="1" dirty="0"/>
              <a:t>Exokernel</a:t>
            </a:r>
          </a:p>
        </p:txBody>
      </p:sp>
    </p:spTree>
    <p:extLst>
      <p:ext uri="{BB962C8B-B14F-4D97-AF65-F5344CB8AC3E}">
        <p14:creationId xmlns:p14="http://schemas.microsoft.com/office/powerpoint/2010/main" val="1749953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81C58-98E6-475B-8B78-E00FD343753A}"/>
              </a:ext>
            </a:extLst>
          </p:cNvPr>
          <p:cNvSpPr>
            <a:spLocks noGrp="1"/>
          </p:cNvSpPr>
          <p:nvPr>
            <p:ph type="title"/>
          </p:nvPr>
        </p:nvSpPr>
        <p:spPr>
          <a:xfrm>
            <a:off x="2510689" y="312758"/>
            <a:ext cx="7170621" cy="1081705"/>
          </a:xfrm>
        </p:spPr>
        <p:txBody>
          <a:bodyPr/>
          <a:lstStyle/>
          <a:p>
            <a:pPr algn="ctr"/>
            <a:r>
              <a:rPr lang="en-US" dirty="0"/>
              <a:t>Monolithic kernel</a:t>
            </a:r>
          </a:p>
        </p:txBody>
      </p:sp>
      <p:pic>
        <p:nvPicPr>
          <p:cNvPr id="2050" name="Picture 2" descr="Kernel (operating system) - Wikipedia">
            <a:extLst>
              <a:ext uri="{FF2B5EF4-FFF2-40B4-BE49-F238E27FC236}">
                <a16:creationId xmlns:a16="http://schemas.microsoft.com/office/drawing/2014/main" id="{E393B008-5C1A-4B48-9F47-D67ACDCC03A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631142" y="2360621"/>
            <a:ext cx="2381250" cy="291465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70A0086C-DA20-49E7-B078-7DBF1B924956}"/>
              </a:ext>
            </a:extLst>
          </p:cNvPr>
          <p:cNvSpPr>
            <a:spLocks noGrp="1"/>
          </p:cNvSpPr>
          <p:nvPr>
            <p:ph sz="half" idx="2"/>
          </p:nvPr>
        </p:nvSpPr>
        <p:spPr>
          <a:xfrm>
            <a:off x="4437529" y="1394464"/>
            <a:ext cx="7628965" cy="4490888"/>
          </a:xfrm>
        </p:spPr>
        <p:txBody>
          <a:bodyPr>
            <a:normAutofit/>
          </a:bodyPr>
          <a:lstStyle/>
          <a:p>
            <a:r>
              <a:rPr lang="en-US" sz="2400" b="1" dirty="0">
                <a:latin typeface="Consolas" panose="020B0609020204030204" pitchFamily="49" charset="0"/>
              </a:rPr>
              <a:t>E</a:t>
            </a:r>
            <a:r>
              <a:rPr lang="en-US" sz="2400" b="1" dirty="0">
                <a:effectLst/>
                <a:latin typeface="Consolas" panose="020B0609020204030204" pitchFamily="49" charset="0"/>
              </a:rPr>
              <a:t>ntire operating system runs in kernel space</a:t>
            </a:r>
          </a:p>
          <a:p>
            <a:r>
              <a:rPr lang="en-US" sz="2400" dirty="0">
                <a:latin typeface="Consolas" panose="020B0609020204030204" pitchFamily="49" charset="0"/>
              </a:rPr>
              <a:t>C</a:t>
            </a:r>
            <a:r>
              <a:rPr lang="en-US" sz="2400" dirty="0">
                <a:effectLst/>
                <a:latin typeface="Consolas" panose="020B0609020204030204" pitchFamily="49" charset="0"/>
              </a:rPr>
              <a:t>ontains all essential OS functions and device drivers</a:t>
            </a:r>
          </a:p>
          <a:p>
            <a:r>
              <a:rPr lang="en-US" sz="2400" dirty="0">
                <a:effectLst/>
                <a:latin typeface="Consolas" panose="020B0609020204030204" pitchFamily="49" charset="0"/>
              </a:rPr>
              <a:t>✅Less software, smaller, fewer bugs…</a:t>
            </a:r>
          </a:p>
          <a:p>
            <a:r>
              <a:rPr lang="en-US" sz="2400" dirty="0">
                <a:effectLst/>
                <a:latin typeface="Consolas" panose="020B0609020204030204" pitchFamily="49" charset="0"/>
              </a:rPr>
              <a:t>✖️</a:t>
            </a:r>
            <a:r>
              <a:rPr lang="en-US" sz="2400" dirty="0">
                <a:latin typeface="Consolas" panose="020B0609020204030204" pitchFamily="49" charset="0"/>
              </a:rPr>
              <a:t>Challenging coding, large and complex, not bug safe, poor portability</a:t>
            </a:r>
            <a:endParaRPr lang="en-US" sz="2400" dirty="0"/>
          </a:p>
        </p:txBody>
      </p:sp>
    </p:spTree>
    <p:extLst>
      <p:ext uri="{BB962C8B-B14F-4D97-AF65-F5344CB8AC3E}">
        <p14:creationId xmlns:p14="http://schemas.microsoft.com/office/powerpoint/2010/main" val="4208785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F271-A49C-4FC6-BB27-2BA58F6DDE98}"/>
              </a:ext>
            </a:extLst>
          </p:cNvPr>
          <p:cNvSpPr>
            <a:spLocks noGrp="1"/>
          </p:cNvSpPr>
          <p:nvPr>
            <p:ph type="title"/>
          </p:nvPr>
        </p:nvSpPr>
        <p:spPr>
          <a:xfrm>
            <a:off x="1483004" y="174813"/>
            <a:ext cx="9301537" cy="1277470"/>
          </a:xfrm>
        </p:spPr>
        <p:txBody>
          <a:bodyPr/>
          <a:lstStyle/>
          <a:p>
            <a:pPr algn="ctr"/>
            <a:r>
              <a:rPr lang="en-US" dirty="0"/>
              <a:t>Microkernel</a:t>
            </a:r>
          </a:p>
        </p:txBody>
      </p:sp>
      <p:pic>
        <p:nvPicPr>
          <p:cNvPr id="3074" name="Picture 2">
            <a:extLst>
              <a:ext uri="{FF2B5EF4-FFF2-40B4-BE49-F238E27FC236}">
                <a16:creationId xmlns:a16="http://schemas.microsoft.com/office/drawing/2014/main" id="{9A8BE8AB-545D-4876-BDFC-071192DEBB3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483004" y="2398154"/>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BEB3ED19-BA61-4ED8-9AC6-EF3D03235E8C}"/>
              </a:ext>
            </a:extLst>
          </p:cNvPr>
          <p:cNvSpPr>
            <a:spLocks noGrp="1"/>
          </p:cNvSpPr>
          <p:nvPr>
            <p:ph sz="half" idx="2"/>
          </p:nvPr>
        </p:nvSpPr>
        <p:spPr>
          <a:xfrm>
            <a:off x="5208494" y="914400"/>
            <a:ext cx="6983505" cy="5701553"/>
          </a:xfrm>
        </p:spPr>
        <p:txBody>
          <a:bodyPr>
            <a:noAutofit/>
          </a:bodyPr>
          <a:lstStyle/>
          <a:p>
            <a:r>
              <a:rPr lang="en-US" sz="2400" b="1" dirty="0">
                <a:latin typeface="Consolas" panose="020B0609020204030204" pitchFamily="49" charset="0"/>
              </a:rPr>
              <a:t>S</a:t>
            </a:r>
            <a:r>
              <a:rPr lang="en-US" sz="2400" b="1" dirty="0">
                <a:effectLst/>
                <a:latin typeface="Consolas" panose="020B0609020204030204" pitchFamily="49" charset="0"/>
              </a:rPr>
              <a:t>ystem functionality moved from the traditional kernel into a set of servers</a:t>
            </a:r>
          </a:p>
          <a:p>
            <a:r>
              <a:rPr lang="en-US" sz="2400" dirty="0">
                <a:latin typeface="Consolas" panose="020B0609020204030204" pitchFamily="49" charset="0"/>
              </a:rPr>
              <a:t>A</a:t>
            </a:r>
            <a:r>
              <a:rPr lang="en-US" sz="2400" dirty="0">
                <a:effectLst/>
                <a:latin typeface="Consolas" panose="020B0609020204030204" pitchFamily="49" charset="0"/>
              </a:rPr>
              <a:t> simple abstraction over hardware</a:t>
            </a:r>
          </a:p>
          <a:p>
            <a:r>
              <a:rPr lang="en-US" sz="2400" dirty="0">
                <a:effectLst/>
                <a:latin typeface="Consolas" panose="020B0609020204030204" pitchFamily="49" charset="0"/>
              </a:rPr>
              <a:t>✅Smaller and easier to maintain, shorter development</a:t>
            </a:r>
            <a:r>
              <a:rPr lang="en-US" sz="2400" dirty="0">
                <a:latin typeface="Consolas" panose="020B0609020204030204" pitchFamily="49" charset="0"/>
              </a:rPr>
              <a:t> time</a:t>
            </a:r>
          </a:p>
          <a:p>
            <a:r>
              <a:rPr lang="en-US" sz="2400" dirty="0">
                <a:effectLst/>
                <a:latin typeface="Consolas" panose="020B0609020204030204" pitchFamily="49" charset="0"/>
              </a:rPr>
              <a:t>✖️Higher RAM usage, more software layers, Message-passing errors are harder to debug, large number of system calls and context switches </a:t>
            </a:r>
            <a:r>
              <a:rPr lang="en-US" sz="2400" dirty="0">
                <a:latin typeface="Arial" panose="020B0604020202020204" pitchFamily="34" charset="0"/>
              </a:rPr>
              <a:t>…</a:t>
            </a:r>
            <a:endParaRPr lang="en-US" sz="2400" dirty="0">
              <a:effectLst/>
              <a:latin typeface="Arial" panose="020B0604020202020204" pitchFamily="34" charset="0"/>
            </a:endParaRPr>
          </a:p>
        </p:txBody>
      </p:sp>
    </p:spTree>
    <p:extLst>
      <p:ext uri="{BB962C8B-B14F-4D97-AF65-F5344CB8AC3E}">
        <p14:creationId xmlns:p14="http://schemas.microsoft.com/office/powerpoint/2010/main" val="628387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C2585-6C53-4DD7-B1EB-FFFB345079A7}"/>
              </a:ext>
            </a:extLst>
          </p:cNvPr>
          <p:cNvSpPr>
            <a:spLocks noGrp="1"/>
          </p:cNvSpPr>
          <p:nvPr>
            <p:ph type="title"/>
          </p:nvPr>
        </p:nvSpPr>
        <p:spPr>
          <a:xfrm>
            <a:off x="1577354" y="14433"/>
            <a:ext cx="10018713" cy="1464743"/>
          </a:xfrm>
        </p:spPr>
        <p:txBody>
          <a:bodyPr/>
          <a:lstStyle/>
          <a:p>
            <a:pPr algn="ctr"/>
            <a:r>
              <a:rPr lang="en-US" dirty="0"/>
              <a:t>Hybrid (Modular) kernel</a:t>
            </a:r>
          </a:p>
        </p:txBody>
      </p:sp>
      <p:pic>
        <p:nvPicPr>
          <p:cNvPr id="19" name="Content Placeholder 18">
            <a:extLst>
              <a:ext uri="{FF2B5EF4-FFF2-40B4-BE49-F238E27FC236}">
                <a16:creationId xmlns:a16="http://schemas.microsoft.com/office/drawing/2014/main" id="{07663DF4-C6EE-4E51-B251-43B9C912F9AB}"/>
              </a:ext>
            </a:extLst>
          </p:cNvPr>
          <p:cNvPicPr>
            <a:picLocks noGrp="1" noChangeAspect="1"/>
          </p:cNvPicPr>
          <p:nvPr>
            <p:ph sz="half" idx="1"/>
          </p:nvPr>
        </p:nvPicPr>
        <p:blipFill>
          <a:blip r:embed="rId2">
            <a:extLst>
              <a:ext uri="{96DAC541-7B7A-43D3-8B79-37D633B846F1}">
                <asvg:svgBlip xmlns:asvg="http://schemas.microsoft.com/office/drawing/2016/SVG/main" r:embed="rId3"/>
              </a:ext>
            </a:extLst>
          </a:blip>
          <a:stretch>
            <a:fillRect/>
          </a:stretch>
        </p:blipFill>
        <p:spPr>
          <a:xfrm>
            <a:off x="1415989" y="2586419"/>
            <a:ext cx="3810000" cy="2857500"/>
          </a:xfrm>
        </p:spPr>
      </p:pic>
      <p:sp>
        <p:nvSpPr>
          <p:cNvPr id="4" name="Content Placeholder 3">
            <a:extLst>
              <a:ext uri="{FF2B5EF4-FFF2-40B4-BE49-F238E27FC236}">
                <a16:creationId xmlns:a16="http://schemas.microsoft.com/office/drawing/2014/main" id="{B643F0D9-E5DA-4515-A5CD-5848785FE68B}"/>
              </a:ext>
            </a:extLst>
          </p:cNvPr>
          <p:cNvSpPr>
            <a:spLocks noGrp="1"/>
          </p:cNvSpPr>
          <p:nvPr>
            <p:ph sz="half" idx="2"/>
          </p:nvPr>
        </p:nvSpPr>
        <p:spPr>
          <a:xfrm>
            <a:off x="5127812" y="1479177"/>
            <a:ext cx="6983506" cy="4840324"/>
          </a:xfrm>
        </p:spPr>
        <p:txBody>
          <a:bodyPr>
            <a:noAutofit/>
          </a:bodyPr>
          <a:lstStyle/>
          <a:p>
            <a:r>
              <a:rPr lang="en-US" sz="2400" b="1" dirty="0">
                <a:latin typeface="Consolas" panose="020B0609020204030204" pitchFamily="49" charset="0"/>
              </a:rPr>
              <a:t>S</a:t>
            </a:r>
            <a:r>
              <a:rPr lang="en-US" sz="2400" b="1" dirty="0">
                <a:effectLst/>
                <a:latin typeface="Consolas" panose="020B0609020204030204" pitchFamily="49" charset="0"/>
              </a:rPr>
              <a:t>imilar to a microkernel but includes additional code in kernel space to improve performance</a:t>
            </a:r>
          </a:p>
          <a:p>
            <a:r>
              <a:rPr lang="en-US" sz="2400" dirty="0">
                <a:effectLst/>
                <a:latin typeface="Consolas" panose="020B0609020204030204" pitchFamily="49" charset="0"/>
              </a:rPr>
              <a:t>It can be understood as a microkernel containing some non-essential code</a:t>
            </a:r>
          </a:p>
          <a:p>
            <a:r>
              <a:rPr lang="en-US" sz="2400" dirty="0">
                <a:effectLst/>
                <a:latin typeface="Consolas" panose="020B0609020204030204" pitchFamily="49" charset="0"/>
              </a:rPr>
              <a:t>✅Shorter development time</a:t>
            </a:r>
            <a:r>
              <a:rPr lang="en-US" sz="2400" dirty="0">
                <a:latin typeface="Consolas" panose="020B0609020204030204" pitchFamily="49" charset="0"/>
              </a:rPr>
              <a:t>, n</a:t>
            </a:r>
            <a:r>
              <a:rPr lang="en-US" sz="2400" dirty="0">
                <a:effectLst/>
                <a:latin typeface="Consolas" panose="020B0609020204030204" pitchFamily="49" charset="0"/>
              </a:rPr>
              <a:t>o need to recompile</a:t>
            </a:r>
            <a:r>
              <a:rPr lang="en-US" sz="2400" dirty="0">
                <a:latin typeface="Consolas" panose="020B0609020204030204" pitchFamily="49" charset="0"/>
              </a:rPr>
              <a:t> everything</a:t>
            </a:r>
          </a:p>
          <a:p>
            <a:r>
              <a:rPr lang="en-US" sz="2400" dirty="0">
                <a:effectLst/>
                <a:latin typeface="Consolas" panose="020B0609020204030204" pitchFamily="49" charset="0"/>
              </a:rPr>
              <a:t>✖️More security vulnerabilities, module maintenance may be confusing</a:t>
            </a:r>
            <a:endParaRPr lang="en-US" sz="2400" dirty="0">
              <a:effectLst/>
              <a:latin typeface="Arial" panose="020B0604020202020204" pitchFamily="34" charset="0"/>
            </a:endParaRPr>
          </a:p>
          <a:p>
            <a:endParaRPr lang="en-US" sz="2400" b="1" dirty="0"/>
          </a:p>
        </p:txBody>
      </p:sp>
    </p:spTree>
    <p:extLst>
      <p:ext uri="{BB962C8B-B14F-4D97-AF65-F5344CB8AC3E}">
        <p14:creationId xmlns:p14="http://schemas.microsoft.com/office/powerpoint/2010/main" val="3074492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2E633-FAA5-4D18-9450-C1802BAB4DA5}"/>
              </a:ext>
            </a:extLst>
          </p:cNvPr>
          <p:cNvSpPr>
            <a:spLocks noGrp="1"/>
          </p:cNvSpPr>
          <p:nvPr>
            <p:ph type="title"/>
          </p:nvPr>
        </p:nvSpPr>
        <p:spPr>
          <a:xfrm>
            <a:off x="2645731" y="357583"/>
            <a:ext cx="6605845" cy="1078348"/>
          </a:xfrm>
        </p:spPr>
        <p:txBody>
          <a:bodyPr/>
          <a:lstStyle/>
          <a:p>
            <a:pPr algn="ctr"/>
            <a:r>
              <a:rPr lang="en-US" dirty="0"/>
              <a:t>Nanokernel</a:t>
            </a:r>
          </a:p>
        </p:txBody>
      </p:sp>
      <p:sp>
        <p:nvSpPr>
          <p:cNvPr id="4" name="Content Placeholder 3">
            <a:extLst>
              <a:ext uri="{FF2B5EF4-FFF2-40B4-BE49-F238E27FC236}">
                <a16:creationId xmlns:a16="http://schemas.microsoft.com/office/drawing/2014/main" id="{C89AC5C7-6CF2-43EF-9497-F73AA8AB5CD1}"/>
              </a:ext>
            </a:extLst>
          </p:cNvPr>
          <p:cNvSpPr>
            <a:spLocks noGrp="1"/>
          </p:cNvSpPr>
          <p:nvPr>
            <p:ph sz="half" idx="2"/>
          </p:nvPr>
        </p:nvSpPr>
        <p:spPr>
          <a:xfrm>
            <a:off x="1223959" y="2823882"/>
            <a:ext cx="10618417" cy="1622612"/>
          </a:xfrm>
        </p:spPr>
        <p:txBody>
          <a:bodyPr>
            <a:noAutofit/>
          </a:bodyPr>
          <a:lstStyle/>
          <a:p>
            <a:pPr marL="0" indent="0" algn="just">
              <a:buNone/>
            </a:pPr>
            <a:r>
              <a:rPr lang="en-US" sz="2400" dirty="0">
                <a:effectLst/>
                <a:latin typeface="Consolas" panose="020B0609020204030204" pitchFamily="49" charset="0"/>
              </a:rPr>
              <a:t>A nanokernel delegates virtually all services (even basic ones such as interrupt controllers or timers) to device drivers to make the kernel even smaller than a microkernel.</a:t>
            </a:r>
            <a:endParaRPr lang="en-US" sz="2400" dirty="0">
              <a:effectLst/>
              <a:latin typeface="Arial" panose="020B0604020202020204" pitchFamily="34" charset="0"/>
            </a:endParaRPr>
          </a:p>
          <a:p>
            <a:pPr algn="just"/>
            <a:endParaRPr lang="en-US" sz="2400" dirty="0"/>
          </a:p>
        </p:txBody>
      </p:sp>
    </p:spTree>
    <p:extLst>
      <p:ext uri="{BB962C8B-B14F-4D97-AF65-F5344CB8AC3E}">
        <p14:creationId xmlns:p14="http://schemas.microsoft.com/office/powerpoint/2010/main" val="184631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9EC7-26C7-4BA0-AB66-6235790950F1}"/>
              </a:ext>
            </a:extLst>
          </p:cNvPr>
          <p:cNvSpPr>
            <a:spLocks noGrp="1"/>
          </p:cNvSpPr>
          <p:nvPr>
            <p:ph type="title"/>
          </p:nvPr>
        </p:nvSpPr>
        <p:spPr>
          <a:xfrm>
            <a:off x="2636767" y="456194"/>
            <a:ext cx="6731351" cy="1081705"/>
          </a:xfrm>
        </p:spPr>
        <p:txBody>
          <a:bodyPr/>
          <a:lstStyle/>
          <a:p>
            <a:pPr algn="ctr"/>
            <a:r>
              <a:rPr lang="en-US" dirty="0"/>
              <a:t>Exokernel</a:t>
            </a:r>
          </a:p>
        </p:txBody>
      </p:sp>
      <p:sp>
        <p:nvSpPr>
          <p:cNvPr id="3" name="Content Placeholder 2">
            <a:extLst>
              <a:ext uri="{FF2B5EF4-FFF2-40B4-BE49-F238E27FC236}">
                <a16:creationId xmlns:a16="http://schemas.microsoft.com/office/drawing/2014/main" id="{545EF42F-2913-4166-B05E-6106789B588F}"/>
              </a:ext>
            </a:extLst>
          </p:cNvPr>
          <p:cNvSpPr>
            <a:spLocks noGrp="1"/>
          </p:cNvSpPr>
          <p:nvPr>
            <p:ph sz="half" idx="1"/>
          </p:nvPr>
        </p:nvSpPr>
        <p:spPr>
          <a:xfrm>
            <a:off x="1219200" y="2052116"/>
            <a:ext cx="10972800" cy="3156378"/>
          </a:xfrm>
        </p:spPr>
        <p:txBody>
          <a:bodyPr>
            <a:normAutofit/>
          </a:bodyPr>
          <a:lstStyle/>
          <a:p>
            <a:r>
              <a:rPr lang="en-US" sz="2400" dirty="0"/>
              <a:t>E</a:t>
            </a:r>
            <a:r>
              <a:rPr lang="en-US" sz="2400" dirty="0">
                <a:effectLst/>
                <a:latin typeface="Consolas" panose="020B0609020204030204" pitchFamily="49" charset="0"/>
              </a:rPr>
              <a:t>xperimental OS kernel design</a:t>
            </a:r>
          </a:p>
          <a:p>
            <a:r>
              <a:rPr lang="en-US" sz="2400" dirty="0">
                <a:latin typeface="Consolas" panose="020B0609020204030204" pitchFamily="49" charset="0"/>
              </a:rPr>
              <a:t>F</a:t>
            </a:r>
            <a:r>
              <a:rPr lang="en-US" sz="2400" dirty="0">
                <a:effectLst/>
                <a:latin typeface="Consolas" panose="020B0609020204030204" pitchFamily="49" charset="0"/>
              </a:rPr>
              <a:t>unctionality is limited to protecting and multiplexing hardware resources, without providing hardware abstractions</a:t>
            </a:r>
          </a:p>
          <a:p>
            <a:r>
              <a:rPr lang="en-US" sz="2400" dirty="0">
                <a:effectLst/>
                <a:latin typeface="Consolas" panose="020B0609020204030204" pitchFamily="49" charset="0"/>
              </a:rPr>
              <a:t>Extremely small, but it is accompanied by an OS library</a:t>
            </a:r>
          </a:p>
          <a:p>
            <a:r>
              <a:rPr lang="en-US" sz="2400" dirty="0">
                <a:latin typeface="Consolas" panose="020B0609020204030204" pitchFamily="49" charset="0"/>
              </a:rPr>
              <a:t>M</a:t>
            </a:r>
            <a:r>
              <a:rPr lang="en-US" sz="2400" dirty="0">
                <a:effectLst/>
                <a:latin typeface="Consolas" panose="020B0609020204030204" pitchFamily="49" charset="0"/>
              </a:rPr>
              <a:t>ain advantage is that multiple OS libraries can be included</a:t>
            </a:r>
            <a:endParaRPr lang="en-US" sz="2400" dirty="0"/>
          </a:p>
        </p:txBody>
      </p:sp>
    </p:spTree>
    <p:extLst>
      <p:ext uri="{BB962C8B-B14F-4D97-AF65-F5344CB8AC3E}">
        <p14:creationId xmlns:p14="http://schemas.microsoft.com/office/powerpoint/2010/main" val="3896956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DD39C-703F-4B31-A842-BFE74C394694}"/>
              </a:ext>
            </a:extLst>
          </p:cNvPr>
          <p:cNvSpPr>
            <a:spLocks noGrp="1"/>
          </p:cNvSpPr>
          <p:nvPr>
            <p:ph type="title"/>
          </p:nvPr>
        </p:nvSpPr>
        <p:spPr>
          <a:xfrm>
            <a:off x="1484311" y="685800"/>
            <a:ext cx="10018713" cy="775447"/>
          </a:xfrm>
        </p:spPr>
        <p:txBody>
          <a:bodyPr/>
          <a:lstStyle/>
          <a:p>
            <a:r>
              <a:rPr lang="en-US" dirty="0"/>
              <a:t>Summary and conclusion</a:t>
            </a:r>
          </a:p>
        </p:txBody>
      </p:sp>
      <p:sp>
        <p:nvSpPr>
          <p:cNvPr id="3" name="Content Placeholder 2">
            <a:extLst>
              <a:ext uri="{FF2B5EF4-FFF2-40B4-BE49-F238E27FC236}">
                <a16:creationId xmlns:a16="http://schemas.microsoft.com/office/drawing/2014/main" id="{CB62321D-E654-45B9-AC77-82F0E2E704E6}"/>
              </a:ext>
            </a:extLst>
          </p:cNvPr>
          <p:cNvSpPr>
            <a:spLocks noGrp="1"/>
          </p:cNvSpPr>
          <p:nvPr>
            <p:ph idx="1"/>
          </p:nvPr>
        </p:nvSpPr>
        <p:spPr>
          <a:xfrm>
            <a:off x="1484311" y="2290481"/>
            <a:ext cx="10018713" cy="3124201"/>
          </a:xfrm>
        </p:spPr>
        <p:txBody>
          <a:bodyPr/>
          <a:lstStyle/>
          <a:p>
            <a:r>
              <a:rPr lang="en-US" dirty="0"/>
              <a:t>Monolithic kernel have everything in one space – kernel space.</a:t>
            </a:r>
          </a:p>
          <a:p>
            <a:r>
              <a:rPr lang="en-US" dirty="0"/>
              <a:t>Microkernels have separated kernel and user space.</a:t>
            </a:r>
          </a:p>
          <a:p>
            <a:r>
              <a:rPr lang="en-US" b="1" dirty="0">
                <a:solidFill>
                  <a:srgbClr val="00B050"/>
                </a:solidFill>
              </a:rPr>
              <a:t>Hybrid kernels combine the best practices from above kernel types.</a:t>
            </a:r>
          </a:p>
          <a:p>
            <a:r>
              <a:rPr lang="en-US" dirty="0"/>
              <a:t>Nanokernels delegate virtually all services.</a:t>
            </a:r>
          </a:p>
          <a:p>
            <a:r>
              <a:rPr lang="en-US" dirty="0"/>
              <a:t>Exokernel is for experimental use.</a:t>
            </a:r>
          </a:p>
        </p:txBody>
      </p:sp>
    </p:spTree>
    <p:extLst>
      <p:ext uri="{BB962C8B-B14F-4D97-AF65-F5344CB8AC3E}">
        <p14:creationId xmlns:p14="http://schemas.microsoft.com/office/powerpoint/2010/main" val="2575578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B2C88-C962-4971-AAEC-F0698981E212}"/>
              </a:ext>
            </a:extLst>
          </p:cNvPr>
          <p:cNvSpPr txBox="1">
            <a:spLocks/>
          </p:cNvSpPr>
          <p:nvPr/>
        </p:nvSpPr>
        <p:spPr>
          <a:xfrm>
            <a:off x="2730324" y="2858735"/>
            <a:ext cx="6731351" cy="570265"/>
          </a:xfrm>
          <a:prstGeom prst="rect">
            <a:avLst/>
          </a:prstGeom>
        </p:spPr>
        <p:txBody>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ctr"/>
            <a:r>
              <a:rPr lang="en-US" b="1" dirty="0"/>
              <a:t>Questions?</a:t>
            </a:r>
          </a:p>
          <a:p>
            <a:pPr algn="ctr"/>
            <a:endParaRPr lang="en-US" dirty="0"/>
          </a:p>
          <a:p>
            <a:pPr algn="ctr"/>
            <a:endParaRPr lang="en-US" dirty="0"/>
          </a:p>
        </p:txBody>
      </p:sp>
    </p:spTree>
    <p:extLst>
      <p:ext uri="{BB962C8B-B14F-4D97-AF65-F5344CB8AC3E}">
        <p14:creationId xmlns:p14="http://schemas.microsoft.com/office/powerpoint/2010/main" val="3389924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17D61-2644-4F71-AA01-436D469B2252}"/>
              </a:ext>
            </a:extLst>
          </p:cNvPr>
          <p:cNvSpPr txBox="1">
            <a:spLocks/>
          </p:cNvSpPr>
          <p:nvPr/>
        </p:nvSpPr>
        <p:spPr>
          <a:xfrm>
            <a:off x="2730324" y="2888147"/>
            <a:ext cx="6731351" cy="1081705"/>
          </a:xfrm>
          <a:prstGeom prst="rect">
            <a:avLst/>
          </a:prstGeom>
        </p:spPr>
        <p:txBody>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ctr"/>
            <a:r>
              <a:rPr lang="en-US" b="1" dirty="0"/>
              <a:t>Thank you!</a:t>
            </a:r>
          </a:p>
        </p:txBody>
      </p:sp>
    </p:spTree>
    <p:extLst>
      <p:ext uri="{BB962C8B-B14F-4D97-AF65-F5344CB8AC3E}">
        <p14:creationId xmlns:p14="http://schemas.microsoft.com/office/powerpoint/2010/main" val="28316427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324</TotalTime>
  <Words>565</Words>
  <Application>Microsoft Office PowerPoint</Application>
  <PresentationFormat>Widescreen</PresentationFormat>
  <Paragraphs>57</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Corbel</vt:lpstr>
      <vt:lpstr>Parallax</vt:lpstr>
      <vt:lpstr>Types of kernels in operating systems</vt:lpstr>
      <vt:lpstr>Contents:</vt:lpstr>
      <vt:lpstr>What is a kernel?</vt:lpstr>
      <vt:lpstr>Types of kernel</vt:lpstr>
      <vt:lpstr>Monolithic kernel</vt:lpstr>
      <vt:lpstr>Microkernel</vt:lpstr>
      <vt:lpstr>Hybrid (Modular) kernel</vt:lpstr>
      <vt:lpstr>Nanokernel</vt:lpstr>
      <vt:lpstr>Exokernel</vt:lpstr>
      <vt:lpstr>Summary and 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kernels in operating systems</dc:title>
  <dc:creator>JM</dc:creator>
  <cp:lastModifiedBy>JM</cp:lastModifiedBy>
  <cp:revision>18</cp:revision>
  <dcterms:created xsi:type="dcterms:W3CDTF">2025-12-05T16:03:52Z</dcterms:created>
  <dcterms:modified xsi:type="dcterms:W3CDTF">2025-12-09T11:43:29Z</dcterms:modified>
</cp:coreProperties>
</file>