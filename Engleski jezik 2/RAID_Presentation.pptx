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D399"/>
    <a:srgbClr val="EFF6FF"/>
    <a:srgbClr val="A4E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25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541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65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1030" y="-731520"/>
            <a:ext cx="3200400" cy="3200400"/>
          </a:xfrm>
          <a:prstGeom prst="ellipse">
            <a:avLst/>
          </a:prstGeom>
          <a:solidFill>
            <a:srgbClr val="0369A1">
              <a:alpha val="2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3689" y="-182880"/>
            <a:ext cx="2011680" cy="201168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TECHNOLOGY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0040" y="2606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Array of Independent Disks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3291840"/>
            <a:ext cx="41148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429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Jelena Matijaš, 1102/23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3566160"/>
            <a:ext cx="411480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3566160"/>
            <a:ext cx="411480" cy="1097280"/>
          </a:xfrm>
          <a:prstGeom prst="rect">
            <a:avLst/>
          </a:prstGeom>
          <a:solidFill>
            <a:srgbClr val="0369A1">
              <a:alpha val="8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3566160"/>
            <a:ext cx="411480" cy="1097280"/>
          </a:xfrm>
          <a:prstGeom prst="rect">
            <a:avLst/>
          </a:prstGeom>
          <a:solidFill>
            <a:srgbClr val="1D4ED8">
              <a:alpha val="76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3566160"/>
            <a:ext cx="411480" cy="1097280"/>
          </a:xfrm>
          <a:prstGeom prst="rect">
            <a:avLst/>
          </a:prstGeom>
          <a:solidFill>
            <a:srgbClr val="2563EB">
              <a:alpha val="64000"/>
            </a:srgbClr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50292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2435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5179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RAID? The need for storage solutions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3818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38186"/>
            <a:ext cx="50292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3818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9305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0 — Striping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26737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the cost of redundancy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68833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88336"/>
            <a:ext cx="50292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883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743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1 — Mirroring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0175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through data duplication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1188037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188037"/>
            <a:ext cx="50292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188037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23560" y="1242901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5 &amp; 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1517221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performance, capacity &amp; safety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193818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1938186"/>
            <a:ext cx="50292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93818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23560" y="199305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0+1, 1+0 &amp; JBOD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226737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and combined approaches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268833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2688336"/>
            <a:ext cx="50292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6883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23560" y="2743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23560" y="30175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choosing the right RAID level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73152" cy="4114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591056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storage device often cannot meet all performance, capacity, or reliability requirements.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24942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" y="21396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specs simply don't exist — e.g., no single HDD offers 200 TB today.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907792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73405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single disks (SLED) are extremely expensive.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" y="34015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points of failure put critical data at risk.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1097280"/>
            <a:ext cx="36576" cy="365760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RAID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1554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(Redundant Array of Independent Disks) is a storage virtualization technique that combines multiple physical drives into one logical unit.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606040"/>
            <a:ext cx="1920240" cy="594360"/>
          </a:xfrm>
          <a:prstGeom prst="rect">
            <a:avLst/>
          </a:prstGeom>
          <a:solidFill>
            <a:srgbClr val="0EA5E9">
              <a:alpha val="15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606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Performance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2606040"/>
            <a:ext cx="1920240" cy="594360"/>
          </a:xfrm>
          <a:prstGeom prst="rect">
            <a:avLst/>
          </a:prstGeom>
          <a:solidFill>
            <a:srgbClr val="34D399">
              <a:alpha val="15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606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Capacity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3355848"/>
            <a:ext cx="1920240" cy="594360"/>
          </a:xfrm>
          <a:prstGeom prst="rect">
            <a:avLst/>
          </a:prstGeom>
          <a:solidFill>
            <a:srgbClr val="F59E0B">
              <a:alpha val="1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3558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Reliability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66560" y="3355848"/>
            <a:ext cx="1920240" cy="594360"/>
          </a:xfrm>
          <a:prstGeom prst="rect">
            <a:avLst/>
          </a:prstGeom>
          <a:solidFill>
            <a:srgbClr val="A78BFA">
              <a:alpha val="15000"/>
            </a:srgbClr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3558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Cost per GB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4251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SLED: Single Large Expensive Disk — RAID's predecessor and antithesis.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0  —  Striping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188720" cy="2926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118872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3192" y="1508760"/>
            <a:ext cx="1042416" cy="59436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5087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3192" y="2221992"/>
            <a:ext cx="1042416" cy="59436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221992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" y="2935224"/>
            <a:ext cx="1042416" cy="59436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935224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9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91640" y="1143000"/>
            <a:ext cx="1188720" cy="2926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91640" y="1143000"/>
            <a:ext cx="118872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1143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64792" y="1508760"/>
            <a:ext cx="1042416" cy="594360"/>
          </a:xfrm>
          <a:prstGeom prst="rect">
            <a:avLst/>
          </a:prstGeom>
          <a:solidFill>
            <a:srgbClr val="0369A1">
              <a:alpha val="5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64792" y="15087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64792" y="2221992"/>
            <a:ext cx="1042416" cy="594360"/>
          </a:xfrm>
          <a:prstGeom prst="rect">
            <a:avLst/>
          </a:prstGeom>
          <a:solidFill>
            <a:srgbClr val="0369A1">
              <a:alpha val="5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64792" y="2221992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64792" y="2935224"/>
            <a:ext cx="1042416" cy="594360"/>
          </a:xfrm>
          <a:prstGeom prst="rect">
            <a:avLst/>
          </a:prstGeom>
          <a:solidFill>
            <a:srgbClr val="0369A1">
              <a:alpha val="5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64792" y="2935224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63240" y="1143000"/>
            <a:ext cx="1188720" cy="2926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3240" y="1143000"/>
            <a:ext cx="118872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1143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36392" y="1508760"/>
            <a:ext cx="1042416" cy="59436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36392" y="15087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36392" y="2221992"/>
            <a:ext cx="1042416" cy="59436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36392" y="2221992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36392" y="2935224"/>
            <a:ext cx="1042416" cy="594360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36392" y="2935224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11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34840" y="1143000"/>
            <a:ext cx="1188720" cy="2926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34840" y="1143000"/>
            <a:ext cx="118872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1143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07992" y="1508760"/>
            <a:ext cx="1042416" cy="594360"/>
          </a:xfrm>
          <a:prstGeom prst="rect">
            <a:avLst/>
          </a:prstGeom>
          <a:solidFill>
            <a:srgbClr val="0369A1">
              <a:alpha val="5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15087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07992" y="2221992"/>
            <a:ext cx="1042416" cy="594360"/>
          </a:xfrm>
          <a:prstGeom prst="rect">
            <a:avLst/>
          </a:prstGeom>
          <a:solidFill>
            <a:srgbClr val="0369A1">
              <a:alpha val="5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07992" y="2221992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07992" y="2935224"/>
            <a:ext cx="1042416" cy="594360"/>
          </a:xfrm>
          <a:prstGeom prst="rect">
            <a:avLst/>
          </a:prstGeom>
          <a:solidFill>
            <a:srgbClr val="0369A1">
              <a:alpha val="5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07992" y="2935224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12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160520"/>
            <a:ext cx="53035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distributed across all disks in parallel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89320" y="1143000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080760" y="1188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Performance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80760" y="14264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4× faster reads &amp; writes (N disks)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89320" y="2039112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080760" y="20848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Capacity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80760" y="232257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sum of all disk capacities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89320" y="2935224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080760" y="2980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Reliability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80760" y="32186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fault tolerance — one disk failure = total data loss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989320" y="3831336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080760" y="38770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Minimum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80760" y="4114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disks required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989320" y="4709160"/>
            <a:ext cx="283464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89320" y="4709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Performance is bought with reliability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1  —  Mirroring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463040" cy="3017520"/>
          </a:xfrm>
          <a:prstGeom prst="rect">
            <a:avLst/>
          </a:prstGeom>
          <a:solidFill>
            <a:srgbClr val="EFF6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146304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280160" cy="53035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280160" cy="53035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280160" cy="53035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34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280160" cy="53035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747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1143000"/>
            <a:ext cx="1463040" cy="3017520"/>
          </a:xfrm>
          <a:prstGeom prst="rect">
            <a:avLst/>
          </a:prstGeom>
          <a:solidFill>
            <a:srgbClr val="EFF6F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1143000"/>
            <a:ext cx="146304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1554480"/>
            <a:ext cx="1280160" cy="53035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15544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0" y="2194560"/>
            <a:ext cx="1280160" cy="53035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219456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2834640"/>
            <a:ext cx="1280160" cy="53035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2834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3474720"/>
            <a:ext cx="1280160" cy="53035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4747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0" y="1143000"/>
            <a:ext cx="1463040" cy="3017520"/>
          </a:xfrm>
          <a:prstGeom prst="rect">
            <a:avLst/>
          </a:prstGeom>
          <a:solidFill>
            <a:srgbClr val="EFF6F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0" y="1143000"/>
            <a:ext cx="146304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23360" y="1554480"/>
            <a:ext cx="1280160" cy="53035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0" y="15544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23360" y="2194560"/>
            <a:ext cx="1280160" cy="53035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0" y="219456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23360" y="2834640"/>
            <a:ext cx="1280160" cy="53035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28346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023360" y="3474720"/>
            <a:ext cx="1280160" cy="53035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34747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38528" y="2560320"/>
            <a:ext cx="256032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75888" y="2560320"/>
            <a:ext cx="256032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7162" y="235055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COPY →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566160" y="23557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COPY →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760720" y="114300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852160" y="118872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Reliability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52160" y="142646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failure of N-1 disks — data safe as long as one disk works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760720" y="2039112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852160" y="20848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Performance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852160" y="232257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Writes: no gain. Reads: up to N× faster in some implementations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760720" y="2935224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852160" y="29809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Capacity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52160" y="32186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 a single disk — all others are mirrors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760720" y="3831336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852160" y="38770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Minimum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852160" y="41148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disks required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760720" y="4709160"/>
            <a:ext cx="306324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4709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Reliability is bought with capacity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5 &amp; 6  —  Distributed Parity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68680" cy="2286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173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" y="1700784"/>
            <a:ext cx="758952" cy="429768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700784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" y="2194560"/>
            <a:ext cx="758952" cy="429768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2194560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" y="2688336"/>
            <a:ext cx="758952" cy="429768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2688336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" y="3182112"/>
            <a:ext cx="758952" cy="42976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3182112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34440" y="1417320"/>
            <a:ext cx="868680" cy="2286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4173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289304" y="1700784"/>
            <a:ext cx="758952" cy="429768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9304" y="1700784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89304" y="2194560"/>
            <a:ext cx="758952" cy="429768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9304" y="2194560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9304" y="2688336"/>
            <a:ext cx="758952" cy="42976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9304" y="2688336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89304" y="3182112"/>
            <a:ext cx="758952" cy="429768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9304" y="3182112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94560" y="1417320"/>
            <a:ext cx="868680" cy="2286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14173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49424" y="1700784"/>
            <a:ext cx="758952" cy="429768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9424" y="1700784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49424" y="2194560"/>
            <a:ext cx="758952" cy="42976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9424" y="2194560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49424" y="2688336"/>
            <a:ext cx="758952" cy="429768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9424" y="2688336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49424" y="3182112"/>
            <a:ext cx="758952" cy="429768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49424" y="3182112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54680" y="1417320"/>
            <a:ext cx="868680" cy="2286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4680" y="14173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9544" y="1700784"/>
            <a:ext cx="758952" cy="42976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9544" y="1700784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9544" y="2194560"/>
            <a:ext cx="758952" cy="429768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9544" y="2194560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9544" y="2688336"/>
            <a:ext cx="758952" cy="429768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9544" y="2688336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9544" y="3182112"/>
            <a:ext cx="758952" cy="429768"/>
          </a:xfrm>
          <a:prstGeom prst="rect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9544" y="3182112"/>
            <a:ext cx="7589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041648" y="17785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(XOR)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82782" y="3712328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2782" y="3936560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2782" y="4162636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82782" y="4389120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1554" y="4615604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675888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sr-Latn-R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rotates across all disks equally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sr-Latn-R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1 disk failure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Capacity = N−1 disks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Min. 3 disks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Best for large sequential I/O (backups)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Not ideal for many small random writes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45152" y="1051560"/>
            <a:ext cx="36576" cy="393192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6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754880" y="142646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RAID 5 but with two independent parity blocks per stripe, spread across all disks.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54880" y="2148840"/>
            <a:ext cx="4069080" cy="47548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21762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Tolerance: 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126480" y="21762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2 simultaneous disk failures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54880" y="2697480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27249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126480" y="272491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 disks of usable space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754880" y="3246120"/>
            <a:ext cx="4069080" cy="47548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46320" y="32735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Disks: 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126480" y="327355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disks required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754880" y="3794760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46320" y="38221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Case: 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126480" y="382219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arrays where rebuild time is long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754880" y="4343400"/>
            <a:ext cx="4069080" cy="47548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46320" y="43708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RAID 5?: 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126480" y="437083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rebuild = high risk of second failure during rebuild</a:t>
            </a:r>
            <a:endParaRPr lang="en-US" sz="1000" dirty="0"/>
          </a:p>
        </p:txBody>
      </p:sp>
      <p:sp>
        <p:nvSpPr>
          <p:cNvPr id="72" name="Shape 50">
            <a:extLst>
              <a:ext uri="{FF2B5EF4-FFF2-40B4-BE49-F238E27FC236}">
                <a16:creationId xmlns:a16="http://schemas.microsoft.com/office/drawing/2014/main" id="{5BF79F2C-510A-4F92-8C32-A4E160A08096}"/>
              </a:ext>
            </a:extLst>
          </p:cNvPr>
          <p:cNvSpPr/>
          <p:nvPr/>
        </p:nvSpPr>
        <p:spPr>
          <a:xfrm>
            <a:off x="285832" y="4839836"/>
            <a:ext cx="128016" cy="1280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5621548B-E342-4385-80AE-914EE6BA68EB}"/>
              </a:ext>
            </a:extLst>
          </p:cNvPr>
          <p:cNvSpPr/>
          <p:nvPr/>
        </p:nvSpPr>
        <p:spPr>
          <a:xfrm>
            <a:off x="4772896" y="1416574"/>
            <a:ext cx="4270384" cy="2075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030DEF3-0677-408D-91DC-577EF4162D41}"/>
              </a:ext>
            </a:extLst>
          </p:cNvPr>
          <p:cNvSpPr/>
          <p:nvPr/>
        </p:nvSpPr>
        <p:spPr>
          <a:xfrm>
            <a:off x="166395" y="1414323"/>
            <a:ext cx="4270384" cy="2077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0+1, 1+0 &amp; JBOD  —  Hybrid Levels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0+1 (Mirror of Stripes)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616" y="1544248"/>
            <a:ext cx="77724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616" y="1544248"/>
            <a:ext cx="7772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616" y="15442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624" y="1882576"/>
            <a:ext cx="649224" cy="40233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624" y="1882576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624" y="2358064"/>
            <a:ext cx="649224" cy="40233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624" y="2358064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624" y="2833552"/>
            <a:ext cx="649224" cy="40233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624" y="2833552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16016" y="1544248"/>
            <a:ext cx="77724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6016" y="1544248"/>
            <a:ext cx="7772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016" y="15442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280024" y="1882576"/>
            <a:ext cx="649224" cy="40233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80024" y="1882576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280024" y="2358064"/>
            <a:ext cx="649224" cy="40233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024" y="2358064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800" dirty="0"/>
              <a:t>Str4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280024" y="2833552"/>
            <a:ext cx="649224" cy="40233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024" y="2833552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56911" y="1544248"/>
            <a:ext cx="77724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6911" y="1544248"/>
            <a:ext cx="777240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6911" y="15442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20919" y="1882576"/>
            <a:ext cx="649224" cy="402336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20919" y="1882576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20919" y="2358064"/>
            <a:ext cx="649224" cy="402336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20919" y="2358064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620919" y="2833552"/>
            <a:ext cx="649224" cy="402336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20919" y="2833552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1311" y="1544248"/>
            <a:ext cx="77724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1311" y="1544248"/>
            <a:ext cx="777240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1311" y="15442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535319" y="1882576"/>
            <a:ext cx="649224" cy="402336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35319" y="1882576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535319" y="2358064"/>
            <a:ext cx="649224" cy="402336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35319" y="2358064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535319" y="2833552"/>
            <a:ext cx="649224" cy="402336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35319" y="2833552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800" dirty="0"/>
              <a:t>Str6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331720" y="3418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993391" y="2367208"/>
            <a:ext cx="5199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 </a:t>
            </a:r>
            <a:br>
              <a:rPr lang="sr-Latn-R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4320" y="34747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one disk fails → degraded RAID 0 on that side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second failure is on the SAME side → data loss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fault-tolerant than RAID 10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1051560"/>
            <a:ext cx="36576" cy="393192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1+0 (Stripe of Mirrors)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766140" y="3533136"/>
            <a:ext cx="4114800" cy="634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Survives any single disk failure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survive multiple failures if not in same mirror pair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Preferred over RAID 0+1 in practice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Min. 4 disks | Capacity = N/2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846320" y="4233122"/>
            <a:ext cx="3977640" cy="736293"/>
          </a:xfrm>
          <a:prstGeom prst="rect">
            <a:avLst/>
          </a:prstGeom>
          <a:solidFill>
            <a:srgbClr val="FFF7ED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80440" y="426969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JBOD — Just a Bunch of Disks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880440" y="452573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concatenation of disks. No performance gain; partial fault recovery possible as most files fit on one disk.</a:t>
            </a:r>
            <a:endParaRPr lang="en-US" sz="1000" dirty="0"/>
          </a:p>
        </p:txBody>
      </p:sp>
      <p:sp>
        <p:nvSpPr>
          <p:cNvPr id="70" name="Shape 3">
            <a:extLst>
              <a:ext uri="{FF2B5EF4-FFF2-40B4-BE49-F238E27FC236}">
                <a16:creationId xmlns:a16="http://schemas.microsoft.com/office/drawing/2014/main" id="{E374C67A-FEFD-429E-BF19-38543757A62E}"/>
              </a:ext>
            </a:extLst>
          </p:cNvPr>
          <p:cNvSpPr/>
          <p:nvPr/>
        </p:nvSpPr>
        <p:spPr>
          <a:xfrm>
            <a:off x="4897843" y="1535984"/>
            <a:ext cx="77724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1" name="Shape 4">
            <a:extLst>
              <a:ext uri="{FF2B5EF4-FFF2-40B4-BE49-F238E27FC236}">
                <a16:creationId xmlns:a16="http://schemas.microsoft.com/office/drawing/2014/main" id="{A5A20285-99C6-4C77-AF73-538B851FDB63}"/>
              </a:ext>
            </a:extLst>
          </p:cNvPr>
          <p:cNvSpPr/>
          <p:nvPr/>
        </p:nvSpPr>
        <p:spPr>
          <a:xfrm>
            <a:off x="4897843" y="1550244"/>
            <a:ext cx="7772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2" name="Text 5">
            <a:extLst>
              <a:ext uri="{FF2B5EF4-FFF2-40B4-BE49-F238E27FC236}">
                <a16:creationId xmlns:a16="http://schemas.microsoft.com/office/drawing/2014/main" id="{6E728206-8351-4352-B054-86D6523952C0}"/>
              </a:ext>
            </a:extLst>
          </p:cNvPr>
          <p:cNvSpPr/>
          <p:nvPr/>
        </p:nvSpPr>
        <p:spPr>
          <a:xfrm>
            <a:off x="4897843" y="15359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00" dirty="0"/>
          </a:p>
        </p:txBody>
      </p:sp>
      <p:sp>
        <p:nvSpPr>
          <p:cNvPr id="73" name="Shape 6">
            <a:extLst>
              <a:ext uri="{FF2B5EF4-FFF2-40B4-BE49-F238E27FC236}">
                <a16:creationId xmlns:a16="http://schemas.microsoft.com/office/drawing/2014/main" id="{4886E668-4463-4BD2-8EE3-F0559EFAD322}"/>
              </a:ext>
            </a:extLst>
          </p:cNvPr>
          <p:cNvSpPr/>
          <p:nvPr/>
        </p:nvSpPr>
        <p:spPr>
          <a:xfrm>
            <a:off x="4961851" y="1874312"/>
            <a:ext cx="649224" cy="40233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700E5789-7415-4AE8-821F-CE70554361D3}"/>
              </a:ext>
            </a:extLst>
          </p:cNvPr>
          <p:cNvSpPr/>
          <p:nvPr/>
        </p:nvSpPr>
        <p:spPr>
          <a:xfrm>
            <a:off x="4961851" y="1874312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Str1</a:t>
            </a:r>
            <a:endParaRPr lang="en-US" sz="800" dirty="0"/>
          </a:p>
        </p:txBody>
      </p:sp>
      <p:sp>
        <p:nvSpPr>
          <p:cNvPr id="75" name="Shape 8">
            <a:extLst>
              <a:ext uri="{FF2B5EF4-FFF2-40B4-BE49-F238E27FC236}">
                <a16:creationId xmlns:a16="http://schemas.microsoft.com/office/drawing/2014/main" id="{F20930DB-4B59-40D8-9CBB-1940AF5782E1}"/>
              </a:ext>
            </a:extLst>
          </p:cNvPr>
          <p:cNvSpPr/>
          <p:nvPr/>
        </p:nvSpPr>
        <p:spPr>
          <a:xfrm>
            <a:off x="4961851" y="2349800"/>
            <a:ext cx="649224" cy="40233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6" name="Text 9">
            <a:extLst>
              <a:ext uri="{FF2B5EF4-FFF2-40B4-BE49-F238E27FC236}">
                <a16:creationId xmlns:a16="http://schemas.microsoft.com/office/drawing/2014/main" id="{F023D1F0-B302-4024-A1C1-E70A6EC4268B}"/>
              </a:ext>
            </a:extLst>
          </p:cNvPr>
          <p:cNvSpPr/>
          <p:nvPr/>
        </p:nvSpPr>
        <p:spPr>
          <a:xfrm>
            <a:off x="4961851" y="2349800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7" name="Shape 10">
            <a:extLst>
              <a:ext uri="{FF2B5EF4-FFF2-40B4-BE49-F238E27FC236}">
                <a16:creationId xmlns:a16="http://schemas.microsoft.com/office/drawing/2014/main" id="{471B5D98-4A9C-4E10-8E48-B5C01E71B61E}"/>
              </a:ext>
            </a:extLst>
          </p:cNvPr>
          <p:cNvSpPr/>
          <p:nvPr/>
        </p:nvSpPr>
        <p:spPr>
          <a:xfrm>
            <a:off x="4961851" y="2825288"/>
            <a:ext cx="649224" cy="40233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8" name="Text 11">
            <a:extLst>
              <a:ext uri="{FF2B5EF4-FFF2-40B4-BE49-F238E27FC236}">
                <a16:creationId xmlns:a16="http://schemas.microsoft.com/office/drawing/2014/main" id="{4CBD202E-90E3-414C-824E-3A2CA68B9040}"/>
              </a:ext>
            </a:extLst>
          </p:cNvPr>
          <p:cNvSpPr/>
          <p:nvPr/>
        </p:nvSpPr>
        <p:spPr>
          <a:xfrm>
            <a:off x="4961851" y="2825288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9" name="Shape 3">
            <a:extLst>
              <a:ext uri="{FF2B5EF4-FFF2-40B4-BE49-F238E27FC236}">
                <a16:creationId xmlns:a16="http://schemas.microsoft.com/office/drawing/2014/main" id="{418CDE6B-89AB-4899-B52A-0B8EE687931A}"/>
              </a:ext>
            </a:extLst>
          </p:cNvPr>
          <p:cNvSpPr/>
          <p:nvPr/>
        </p:nvSpPr>
        <p:spPr>
          <a:xfrm>
            <a:off x="5829328" y="1544784"/>
            <a:ext cx="77724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0" name="Shape 4">
            <a:extLst>
              <a:ext uri="{FF2B5EF4-FFF2-40B4-BE49-F238E27FC236}">
                <a16:creationId xmlns:a16="http://schemas.microsoft.com/office/drawing/2014/main" id="{64BDCD11-1CEB-4937-B46F-9C466EDD42DB}"/>
              </a:ext>
            </a:extLst>
          </p:cNvPr>
          <p:cNvSpPr/>
          <p:nvPr/>
        </p:nvSpPr>
        <p:spPr>
          <a:xfrm>
            <a:off x="5829328" y="1559044"/>
            <a:ext cx="777240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1" name="Text 5">
            <a:extLst>
              <a:ext uri="{FF2B5EF4-FFF2-40B4-BE49-F238E27FC236}">
                <a16:creationId xmlns:a16="http://schemas.microsoft.com/office/drawing/2014/main" id="{55B80845-8F26-4E1A-86B7-F3ACF64EFC7A}"/>
              </a:ext>
            </a:extLst>
          </p:cNvPr>
          <p:cNvSpPr/>
          <p:nvPr/>
        </p:nvSpPr>
        <p:spPr>
          <a:xfrm>
            <a:off x="5829328" y="15447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sr-Latn-R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2" name="Shape 6">
            <a:extLst>
              <a:ext uri="{FF2B5EF4-FFF2-40B4-BE49-F238E27FC236}">
                <a16:creationId xmlns:a16="http://schemas.microsoft.com/office/drawing/2014/main" id="{208FA684-EF46-4862-8FFD-AF3DC202FF23}"/>
              </a:ext>
            </a:extLst>
          </p:cNvPr>
          <p:cNvSpPr/>
          <p:nvPr/>
        </p:nvSpPr>
        <p:spPr>
          <a:xfrm>
            <a:off x="5893336" y="1883112"/>
            <a:ext cx="649224" cy="402336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3" name="Text 7">
            <a:extLst>
              <a:ext uri="{FF2B5EF4-FFF2-40B4-BE49-F238E27FC236}">
                <a16:creationId xmlns:a16="http://schemas.microsoft.com/office/drawing/2014/main" id="{C326D7CC-0101-4538-B01D-A1E3899CB29E}"/>
              </a:ext>
            </a:extLst>
          </p:cNvPr>
          <p:cNvSpPr/>
          <p:nvPr/>
        </p:nvSpPr>
        <p:spPr>
          <a:xfrm>
            <a:off x="5893336" y="1883112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Str1</a:t>
            </a:r>
            <a:endParaRPr lang="en-US" sz="800" dirty="0"/>
          </a:p>
        </p:txBody>
      </p:sp>
      <p:sp>
        <p:nvSpPr>
          <p:cNvPr id="84" name="Shape 8">
            <a:extLst>
              <a:ext uri="{FF2B5EF4-FFF2-40B4-BE49-F238E27FC236}">
                <a16:creationId xmlns:a16="http://schemas.microsoft.com/office/drawing/2014/main" id="{B8B6B79F-18C0-4A08-9BBD-61422F70DF70}"/>
              </a:ext>
            </a:extLst>
          </p:cNvPr>
          <p:cNvSpPr/>
          <p:nvPr/>
        </p:nvSpPr>
        <p:spPr>
          <a:xfrm>
            <a:off x="5893336" y="2358600"/>
            <a:ext cx="649224" cy="402336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5" name="Text 9">
            <a:extLst>
              <a:ext uri="{FF2B5EF4-FFF2-40B4-BE49-F238E27FC236}">
                <a16:creationId xmlns:a16="http://schemas.microsoft.com/office/drawing/2014/main" id="{8D12B6C5-C3CC-4A2D-92B2-541EF938C031}"/>
              </a:ext>
            </a:extLst>
          </p:cNvPr>
          <p:cNvSpPr/>
          <p:nvPr/>
        </p:nvSpPr>
        <p:spPr>
          <a:xfrm>
            <a:off x="5893336" y="2358600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6" name="Shape 10">
            <a:extLst>
              <a:ext uri="{FF2B5EF4-FFF2-40B4-BE49-F238E27FC236}">
                <a16:creationId xmlns:a16="http://schemas.microsoft.com/office/drawing/2014/main" id="{3F46ADAF-5840-4BD7-83F5-A7AA12407051}"/>
              </a:ext>
            </a:extLst>
          </p:cNvPr>
          <p:cNvSpPr/>
          <p:nvPr/>
        </p:nvSpPr>
        <p:spPr>
          <a:xfrm>
            <a:off x="5893336" y="2834088"/>
            <a:ext cx="649224" cy="402336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7" name="Text 11">
            <a:extLst>
              <a:ext uri="{FF2B5EF4-FFF2-40B4-BE49-F238E27FC236}">
                <a16:creationId xmlns:a16="http://schemas.microsoft.com/office/drawing/2014/main" id="{A2388C65-B318-4611-8ED3-6CDA5BC2C4B6}"/>
              </a:ext>
            </a:extLst>
          </p:cNvPr>
          <p:cNvSpPr/>
          <p:nvPr/>
        </p:nvSpPr>
        <p:spPr>
          <a:xfrm>
            <a:off x="5893336" y="2834088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8" name="Shape 12">
            <a:extLst>
              <a:ext uri="{FF2B5EF4-FFF2-40B4-BE49-F238E27FC236}">
                <a16:creationId xmlns:a16="http://schemas.microsoft.com/office/drawing/2014/main" id="{9971C7F0-17FB-460F-8DE7-2F32C4F2A97B}"/>
              </a:ext>
            </a:extLst>
          </p:cNvPr>
          <p:cNvSpPr/>
          <p:nvPr/>
        </p:nvSpPr>
        <p:spPr>
          <a:xfrm>
            <a:off x="7214616" y="1540116"/>
            <a:ext cx="77724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9" name="Shape 13">
            <a:extLst>
              <a:ext uri="{FF2B5EF4-FFF2-40B4-BE49-F238E27FC236}">
                <a16:creationId xmlns:a16="http://schemas.microsoft.com/office/drawing/2014/main" id="{003AA187-0456-4723-A865-210B5629BA5E}"/>
              </a:ext>
            </a:extLst>
          </p:cNvPr>
          <p:cNvSpPr/>
          <p:nvPr/>
        </p:nvSpPr>
        <p:spPr>
          <a:xfrm>
            <a:off x="7214616" y="1540116"/>
            <a:ext cx="7772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0" name="Text 14">
            <a:extLst>
              <a:ext uri="{FF2B5EF4-FFF2-40B4-BE49-F238E27FC236}">
                <a16:creationId xmlns:a16="http://schemas.microsoft.com/office/drawing/2014/main" id="{FD640854-4D18-4DF2-B60C-EB5C70EE6EA0}"/>
              </a:ext>
            </a:extLst>
          </p:cNvPr>
          <p:cNvSpPr/>
          <p:nvPr/>
        </p:nvSpPr>
        <p:spPr>
          <a:xfrm>
            <a:off x="7214616" y="15401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sr-Latn-R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91" name="Shape 15">
            <a:extLst>
              <a:ext uri="{FF2B5EF4-FFF2-40B4-BE49-F238E27FC236}">
                <a16:creationId xmlns:a16="http://schemas.microsoft.com/office/drawing/2014/main" id="{94B48974-2577-4E23-B13B-FB130C91A7A5}"/>
              </a:ext>
            </a:extLst>
          </p:cNvPr>
          <p:cNvSpPr/>
          <p:nvPr/>
        </p:nvSpPr>
        <p:spPr>
          <a:xfrm>
            <a:off x="7278624" y="1878444"/>
            <a:ext cx="649224" cy="40233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2" name="Text 16">
            <a:extLst>
              <a:ext uri="{FF2B5EF4-FFF2-40B4-BE49-F238E27FC236}">
                <a16:creationId xmlns:a16="http://schemas.microsoft.com/office/drawing/2014/main" id="{38A66CD4-0829-49D8-8CDE-B999B72CEDCC}"/>
              </a:ext>
            </a:extLst>
          </p:cNvPr>
          <p:cNvSpPr/>
          <p:nvPr/>
        </p:nvSpPr>
        <p:spPr>
          <a:xfrm>
            <a:off x="7278624" y="1878444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3" name="Shape 17">
            <a:extLst>
              <a:ext uri="{FF2B5EF4-FFF2-40B4-BE49-F238E27FC236}">
                <a16:creationId xmlns:a16="http://schemas.microsoft.com/office/drawing/2014/main" id="{0E32BB17-14C6-46B2-9F2E-017E7F0A166C}"/>
              </a:ext>
            </a:extLst>
          </p:cNvPr>
          <p:cNvSpPr/>
          <p:nvPr/>
        </p:nvSpPr>
        <p:spPr>
          <a:xfrm>
            <a:off x="7278624" y="2353932"/>
            <a:ext cx="649224" cy="40233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4" name="Text 18">
            <a:extLst>
              <a:ext uri="{FF2B5EF4-FFF2-40B4-BE49-F238E27FC236}">
                <a16:creationId xmlns:a16="http://schemas.microsoft.com/office/drawing/2014/main" id="{A1282668-EADE-401B-BE3E-CC459B971269}"/>
              </a:ext>
            </a:extLst>
          </p:cNvPr>
          <p:cNvSpPr/>
          <p:nvPr/>
        </p:nvSpPr>
        <p:spPr>
          <a:xfrm>
            <a:off x="7278624" y="2353932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800" dirty="0"/>
              <a:t>Str4</a:t>
            </a:r>
            <a:endParaRPr lang="en-US" sz="800" dirty="0"/>
          </a:p>
        </p:txBody>
      </p:sp>
      <p:sp>
        <p:nvSpPr>
          <p:cNvPr id="95" name="Shape 19">
            <a:extLst>
              <a:ext uri="{FF2B5EF4-FFF2-40B4-BE49-F238E27FC236}">
                <a16:creationId xmlns:a16="http://schemas.microsoft.com/office/drawing/2014/main" id="{9A2F3B6A-EBD4-42EC-A5FA-8515AFA3F091}"/>
              </a:ext>
            </a:extLst>
          </p:cNvPr>
          <p:cNvSpPr/>
          <p:nvPr/>
        </p:nvSpPr>
        <p:spPr>
          <a:xfrm>
            <a:off x="7278624" y="2829420"/>
            <a:ext cx="649224" cy="402336"/>
          </a:xfrm>
          <a:prstGeom prst="rect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6" name="Text 20">
            <a:extLst>
              <a:ext uri="{FF2B5EF4-FFF2-40B4-BE49-F238E27FC236}">
                <a16:creationId xmlns:a16="http://schemas.microsoft.com/office/drawing/2014/main" id="{1DE4EC9B-228F-44E0-90BE-EEEA7B60541B}"/>
              </a:ext>
            </a:extLst>
          </p:cNvPr>
          <p:cNvSpPr/>
          <p:nvPr/>
        </p:nvSpPr>
        <p:spPr>
          <a:xfrm>
            <a:off x="7278624" y="2829420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7" name="Shape 12">
            <a:extLst>
              <a:ext uri="{FF2B5EF4-FFF2-40B4-BE49-F238E27FC236}">
                <a16:creationId xmlns:a16="http://schemas.microsoft.com/office/drawing/2014/main" id="{90A30DE4-9D9C-472B-ABB2-3662B7A3955A}"/>
              </a:ext>
            </a:extLst>
          </p:cNvPr>
          <p:cNvSpPr/>
          <p:nvPr/>
        </p:nvSpPr>
        <p:spPr>
          <a:xfrm>
            <a:off x="8110480" y="1548680"/>
            <a:ext cx="77724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8" name="Shape 13">
            <a:extLst>
              <a:ext uri="{FF2B5EF4-FFF2-40B4-BE49-F238E27FC236}">
                <a16:creationId xmlns:a16="http://schemas.microsoft.com/office/drawing/2014/main" id="{BD39B0F1-A1A7-4940-8E79-52B3D2AFD9D0}"/>
              </a:ext>
            </a:extLst>
          </p:cNvPr>
          <p:cNvSpPr/>
          <p:nvPr/>
        </p:nvSpPr>
        <p:spPr>
          <a:xfrm>
            <a:off x="8110480" y="1548680"/>
            <a:ext cx="777240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9" name="Text 14">
            <a:extLst>
              <a:ext uri="{FF2B5EF4-FFF2-40B4-BE49-F238E27FC236}">
                <a16:creationId xmlns:a16="http://schemas.microsoft.com/office/drawing/2014/main" id="{CD1709EA-8422-41AB-8E62-A0B718C4CCC0}"/>
              </a:ext>
            </a:extLst>
          </p:cNvPr>
          <p:cNvSpPr/>
          <p:nvPr/>
        </p:nvSpPr>
        <p:spPr>
          <a:xfrm>
            <a:off x="8110480" y="1548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sr-Latn-R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00" name="Shape 15">
            <a:extLst>
              <a:ext uri="{FF2B5EF4-FFF2-40B4-BE49-F238E27FC236}">
                <a16:creationId xmlns:a16="http://schemas.microsoft.com/office/drawing/2014/main" id="{C7AEF616-520B-4534-B8D2-D7DE007233B4}"/>
              </a:ext>
            </a:extLst>
          </p:cNvPr>
          <p:cNvSpPr/>
          <p:nvPr/>
        </p:nvSpPr>
        <p:spPr>
          <a:xfrm>
            <a:off x="8174488" y="1887008"/>
            <a:ext cx="649224" cy="402336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1" name="Text 16">
            <a:extLst>
              <a:ext uri="{FF2B5EF4-FFF2-40B4-BE49-F238E27FC236}">
                <a16:creationId xmlns:a16="http://schemas.microsoft.com/office/drawing/2014/main" id="{261C6B08-DEAC-45CA-8587-52AB2ABFD5DB}"/>
              </a:ext>
            </a:extLst>
          </p:cNvPr>
          <p:cNvSpPr/>
          <p:nvPr/>
        </p:nvSpPr>
        <p:spPr>
          <a:xfrm>
            <a:off x="8174488" y="1887008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02" name="Shape 17">
            <a:extLst>
              <a:ext uri="{FF2B5EF4-FFF2-40B4-BE49-F238E27FC236}">
                <a16:creationId xmlns:a16="http://schemas.microsoft.com/office/drawing/2014/main" id="{5965D5BB-655B-4436-B52D-102B2329903E}"/>
              </a:ext>
            </a:extLst>
          </p:cNvPr>
          <p:cNvSpPr/>
          <p:nvPr/>
        </p:nvSpPr>
        <p:spPr>
          <a:xfrm>
            <a:off x="8174488" y="2362496"/>
            <a:ext cx="649224" cy="402336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3" name="Text 18">
            <a:extLst>
              <a:ext uri="{FF2B5EF4-FFF2-40B4-BE49-F238E27FC236}">
                <a16:creationId xmlns:a16="http://schemas.microsoft.com/office/drawing/2014/main" id="{26FA1641-9C27-4D08-AD3E-8B6B902DA8FC}"/>
              </a:ext>
            </a:extLst>
          </p:cNvPr>
          <p:cNvSpPr/>
          <p:nvPr/>
        </p:nvSpPr>
        <p:spPr>
          <a:xfrm>
            <a:off x="8174488" y="2362496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800" dirty="0"/>
              <a:t>Str4</a:t>
            </a:r>
            <a:endParaRPr lang="en-US" sz="800" dirty="0"/>
          </a:p>
        </p:txBody>
      </p:sp>
      <p:sp>
        <p:nvSpPr>
          <p:cNvPr id="104" name="Shape 19">
            <a:extLst>
              <a:ext uri="{FF2B5EF4-FFF2-40B4-BE49-F238E27FC236}">
                <a16:creationId xmlns:a16="http://schemas.microsoft.com/office/drawing/2014/main" id="{A3E22CF0-8611-4F87-9AF2-E851E0899DA6}"/>
              </a:ext>
            </a:extLst>
          </p:cNvPr>
          <p:cNvSpPr/>
          <p:nvPr/>
        </p:nvSpPr>
        <p:spPr>
          <a:xfrm>
            <a:off x="8174488" y="2837984"/>
            <a:ext cx="649224" cy="402336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5" name="Text 20">
            <a:extLst>
              <a:ext uri="{FF2B5EF4-FFF2-40B4-BE49-F238E27FC236}">
                <a16:creationId xmlns:a16="http://schemas.microsoft.com/office/drawing/2014/main" id="{16C69225-2BA7-4D0B-8960-94C4A0A4430A}"/>
              </a:ext>
            </a:extLst>
          </p:cNvPr>
          <p:cNvSpPr/>
          <p:nvPr/>
        </p:nvSpPr>
        <p:spPr>
          <a:xfrm>
            <a:off x="8174488" y="2837984"/>
            <a:ext cx="649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sr-Latn-RS" sz="800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369A1">
              <a:alpha val="1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RAID Level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4023360" cy="6858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64008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08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maximum speed; data loss is acceptable (temp/scratch)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4023360" cy="6858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63040"/>
            <a:ext cx="64008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508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764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drives or critical low-volume data requiring high redundancy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4023360" cy="6858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286000"/>
            <a:ext cx="64008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2587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 servers with large, sequential workloads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4023360" cy="6858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286000"/>
            <a:ext cx="64008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587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arrays or critical data where RAID 5 rebuild risk is too high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8366760" cy="59436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154680"/>
            <a:ext cx="64008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191256"/>
            <a:ext cx="16318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0+1 | RAID 1+0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4107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high-transaction systems needing both speed AND redundancy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49624"/>
            <a:ext cx="8366760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877056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No single RAID level is universally best. Every level trades off performance, capacity, and reliability. Match the level to your workload, budget, and risk tolerance.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369A1">
              <a:alpha val="1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59126" y="1919712"/>
            <a:ext cx="22719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r-Latn-R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971800" y="2580369"/>
            <a:ext cx="32004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0072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813</Words>
  <Application>Microsoft Office PowerPoint</Application>
  <PresentationFormat>On-screen Show (16:9)</PresentationFormat>
  <Paragraphs>199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RAID - Redundant Array of Independent Disks</dc:title>
  <dc:subject>PptxGenJS Presentation</dc:subject>
  <dc:creator>PptxGenJS</dc:creator>
  <cp:lastModifiedBy>JM</cp:lastModifiedBy>
  <cp:revision>7</cp:revision>
  <dcterms:created xsi:type="dcterms:W3CDTF">2026-05-05T09:47:36Z</dcterms:created>
  <dcterms:modified xsi:type="dcterms:W3CDTF">2026-05-26T09:01:55Z</dcterms:modified>
</cp:coreProperties>
</file>